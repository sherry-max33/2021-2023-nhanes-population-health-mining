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Helvetica World Bold" charset="1" panose="020B0800040000020004"/>
      <p:regular r:id="rId40"/>
    </p:embeddedFont>
    <p:embeddedFont>
      <p:font typeface="Montserrat Medium" charset="1" panose="00000600000000000000"/>
      <p:regular r:id="rId41"/>
    </p:embeddedFont>
    <p:embeddedFont>
      <p:font typeface="Helvetica World Italics" charset="1" panose="020B0500040000090004"/>
      <p:regular r:id="rId42"/>
    </p:embeddedFont>
    <p:embeddedFont>
      <p:font typeface="Helvetica World" charset="1" panose="020B0500040000020004"/>
      <p:regular r:id="rId43"/>
    </p:embeddedFont>
    <p:embeddedFont>
      <p:font typeface="Poppins" charset="1" panose="00000500000000000000"/>
      <p:regular r:id="rId44"/>
    </p:embeddedFont>
    <p:embeddedFont>
      <p:font typeface="Montserrat" charset="1" panose="00000500000000000000"/>
      <p:regular r:id="rId45"/>
    </p:embeddedFont>
    <p:embeddedFont>
      <p:font typeface="Helvetica World Bold Italics" charset="1" panose="020B0800040000090004"/>
      <p:regular r:id="rId46"/>
    </p:embeddedFont>
    <p:embeddedFont>
      <p:font typeface="Poppins Bold" charset="1" panose="00000800000000000000"/>
      <p:regular r:id="rId47"/>
    </p:embeddedFont>
    <p:embeddedFont>
      <p:font typeface="Poppins Bold Italics" charset="1" panose="00000800000000000000"/>
      <p:regular r:id="rId48"/>
    </p:embeddedFont>
    <p:embeddedFont>
      <p:font typeface="Poppins Italics" charset="1" panose="00000500000000000000"/>
      <p:regular r:id="rId49"/>
    </p:embeddedFont>
    <p:embeddedFont>
      <p:font typeface="Poppins Medium" charset="1" panose="00000600000000000000"/>
      <p:regular r:id="rId50"/>
    </p:embeddedFont>
    <p:embeddedFont>
      <p:font typeface="IBM Plex Mono" charset="1" panose="020B0509050203000203"/>
      <p:regular r:id="rId51"/>
    </p:embeddedFont>
    <p:embeddedFont>
      <p:font typeface="IBM Plex Mono Bold" charset="1" panose="020B0809050203000203"/>
      <p:regular r:id="rId52"/>
    </p:embeddedFont>
    <p:embeddedFont>
      <p:font typeface="IBM Plex Mono Italics" charset="1" panose="020B0509050203000203"/>
      <p:regular r:id="rId53"/>
    </p:embeddedFont>
    <p:embeddedFont>
      <p:font typeface="Montserrat Medium Italics" charset="1" panose="00000600000000000000"/>
      <p:regular r:id="rId54"/>
    </p:embeddedFont>
    <p:embeddedFont>
      <p:font typeface="Montserrat Italics" charset="1" panose="00000500000000000000"/>
      <p:regular r:id="rId55"/>
    </p:embeddedFont>
    <p:embeddedFont>
      <p:font typeface="Tex Gyre Bonum Italics" charset="1" panose="00000500000000000000"/>
      <p:regular r:id="rId56"/>
    </p:embeddedFont>
    <p:embeddedFont>
      <p:font typeface="Tex Gyre Bonum Bold Italics" charset="1" panose="00000800000000000000"/>
      <p:regular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9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60002" y="8551330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16218" y="5189701"/>
            <a:ext cx="17133682" cy="355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9"/>
              </a:lnSpc>
            </a:pPr>
            <a:r>
              <a:rPr lang="en-US" sz="9912" spc="-346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Health Insurance Coverage </a:t>
            </a:r>
          </a:p>
          <a:p>
            <a:pPr algn="l">
              <a:lnSpc>
                <a:spcPts val="7929"/>
              </a:lnSpc>
            </a:pPr>
            <a:r>
              <a:rPr lang="en-US" sz="9912" spc="-346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and Hypertension Risk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4037" y="882239"/>
            <a:ext cx="2975263" cy="26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5"/>
              </a:lnSpc>
              <a:spcBef>
                <a:spcPct val="0"/>
              </a:spcBef>
            </a:pPr>
            <a:r>
              <a:rPr lang="en-US" b="true" sz="1596" spc="-63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Mining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4318" y="8760292"/>
            <a:ext cx="9125527" cy="53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289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Muhu</a:t>
            </a:r>
            <a:r>
              <a:rPr lang="en-US" sz="289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i Wang, Sherry Wang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60002" y="8551330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2667002" y="6521864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384" y="4610760"/>
            <a:ext cx="5473734" cy="1096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67"/>
              </a:lnSpc>
              <a:spcBef>
                <a:spcPct val="0"/>
              </a:spcBef>
            </a:pPr>
            <a:r>
              <a:rPr lang="en-US" sz="9583" spc="-335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Content</a:t>
            </a:r>
          </a:p>
        </p:txBody>
      </p:sp>
      <p:sp>
        <p:nvSpPr>
          <p:cNvPr name="AutoShape 6" id="6"/>
          <p:cNvSpPr/>
          <p:nvPr/>
        </p:nvSpPr>
        <p:spPr>
          <a:xfrm>
            <a:off x="7977460" y="2220593"/>
            <a:ext cx="9620927" cy="0"/>
          </a:xfrm>
          <a:prstGeom prst="line">
            <a:avLst/>
          </a:prstGeom>
          <a:ln cap="flat" w="38100">
            <a:solidFill>
              <a:srgbClr val="FFFFFF">
                <a:alpha val="5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977460" y="3390108"/>
            <a:ext cx="9620927" cy="0"/>
          </a:xfrm>
          <a:prstGeom prst="line">
            <a:avLst/>
          </a:prstGeom>
          <a:ln cap="flat" w="38100">
            <a:solidFill>
              <a:srgbClr val="FFFFFF">
                <a:alpha val="5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977460" y="4559623"/>
            <a:ext cx="9620927" cy="0"/>
          </a:xfrm>
          <a:prstGeom prst="line">
            <a:avLst/>
          </a:prstGeom>
          <a:ln cap="flat" w="38100">
            <a:solidFill>
              <a:srgbClr val="FFFFFF">
                <a:alpha val="5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977460" y="5729138"/>
            <a:ext cx="9620927" cy="0"/>
          </a:xfrm>
          <a:prstGeom prst="line">
            <a:avLst/>
          </a:prstGeom>
          <a:ln cap="flat" w="38100">
            <a:solidFill>
              <a:srgbClr val="FFFFFF">
                <a:alpha val="5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977460" y="6898652"/>
            <a:ext cx="9620927" cy="0"/>
          </a:xfrm>
          <a:prstGeom prst="line">
            <a:avLst/>
          </a:prstGeom>
          <a:ln cap="flat" w="38100">
            <a:solidFill>
              <a:srgbClr val="FFFFFF">
                <a:alpha val="5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977460" y="8068167"/>
            <a:ext cx="9620927" cy="0"/>
          </a:xfrm>
          <a:prstGeom prst="line">
            <a:avLst/>
          </a:prstGeom>
          <a:ln cap="flat" w="38100">
            <a:solidFill>
              <a:srgbClr val="FFFFFF">
                <a:alpha val="5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977460" y="9239250"/>
            <a:ext cx="9620927" cy="0"/>
          </a:xfrm>
          <a:prstGeom prst="line">
            <a:avLst/>
          </a:prstGeom>
          <a:ln cap="flat" w="38100">
            <a:solidFill>
              <a:srgbClr val="FFFFFF">
                <a:alpha val="5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8809569" y="1382885"/>
            <a:ext cx="6940207" cy="52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Problem Statement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77460" y="1382885"/>
            <a:ext cx="1066183" cy="52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>
                    <a:alpha val="62745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09569" y="2552400"/>
            <a:ext cx="8788818" cy="52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Dataset Description &amp;Preprocessing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77460" y="2552400"/>
            <a:ext cx="1066183" cy="52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>
                    <a:alpha val="62745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09569" y="3721915"/>
            <a:ext cx="8975967" cy="52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Exploratory</a:t>
            </a:r>
            <a:r>
              <a:rPr lang="en-US" sz="4605" spc="-161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Data Analysis (EDA)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77460" y="3721915"/>
            <a:ext cx="1066183" cy="52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>
                    <a:alpha val="62745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09569" y="4891430"/>
            <a:ext cx="6940207" cy="52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Association Rules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77460" y="4891430"/>
            <a:ext cx="1066183" cy="52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>
                    <a:alpha val="62745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09569" y="6060945"/>
            <a:ext cx="7984910" cy="52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Classification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77460" y="6060945"/>
            <a:ext cx="1066183" cy="52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>
                    <a:alpha val="62745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09569" y="7230459"/>
            <a:ext cx="6940207" cy="52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Clustering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77460" y="7230459"/>
            <a:ext cx="1066183" cy="52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>
                    <a:alpha val="62745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09569" y="8401542"/>
            <a:ext cx="8788818" cy="52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Conclusion &amp; Future Work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77460" y="8401542"/>
            <a:ext cx="1066183" cy="52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4"/>
              </a:lnSpc>
              <a:spcBef>
                <a:spcPct val="0"/>
              </a:spcBef>
            </a:pPr>
            <a:r>
              <a:rPr lang="en-US" sz="4605" spc="-161">
                <a:solidFill>
                  <a:srgbClr val="FFFFFF">
                    <a:alpha val="62745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16297" y="570934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040889" y="2524288"/>
            <a:ext cx="9125527" cy="176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10"/>
              </a:lnSpc>
              <a:spcBef>
                <a:spcPct val="0"/>
              </a:spcBef>
            </a:pPr>
            <a:r>
              <a:rPr lang="en-US" sz="57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57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nsurance Disparities</a:t>
            </a:r>
          </a:p>
          <a:p>
            <a:pPr algn="just">
              <a:lnSpc>
                <a:spcPts val="545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58640" y="3038638"/>
            <a:ext cx="6966723" cy="216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7"/>
              </a:lnSpc>
            </a:pPr>
            <a:r>
              <a:rPr lang="en-US" sz="8934" spc="-312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</a:t>
            </a:r>
          </a:p>
          <a:p>
            <a:pPr algn="l">
              <a:lnSpc>
                <a:spcPts val="7147"/>
              </a:lnSpc>
            </a:pPr>
            <a:r>
              <a:rPr lang="en-US" sz="8934" spc="-312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94447" y="4789808"/>
            <a:ext cx="9218411" cy="154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346"/>
              </a:lnSpc>
              <a:spcBef>
                <a:spcPct val="0"/>
              </a:spcBef>
            </a:pPr>
            <a:r>
              <a:rPr lang="en-US" sz="524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Hypertension Burden</a:t>
            </a:r>
          </a:p>
          <a:p>
            <a:pPr algn="just" marL="0" indent="0" lvl="0">
              <a:lnSpc>
                <a:spcPts val="471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0695" y="3214787"/>
            <a:ext cx="11005028" cy="6795605"/>
          </a:xfrm>
          <a:custGeom>
            <a:avLst/>
            <a:gdLst/>
            <a:ahLst/>
            <a:cxnLst/>
            <a:rect r="r" b="b" t="t" l="l"/>
            <a:pathLst>
              <a:path h="6795605" w="11005028">
                <a:moveTo>
                  <a:pt x="0" y="0"/>
                </a:moveTo>
                <a:lnTo>
                  <a:pt x="11005028" y="0"/>
                </a:lnTo>
                <a:lnTo>
                  <a:pt x="11005028" y="6795604"/>
                </a:lnTo>
                <a:lnTo>
                  <a:pt x="0" y="6795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86653" y="3214787"/>
            <a:ext cx="6345996" cy="3680677"/>
          </a:xfrm>
          <a:custGeom>
            <a:avLst/>
            <a:gdLst/>
            <a:ahLst/>
            <a:cxnLst/>
            <a:rect r="r" b="b" t="t" l="l"/>
            <a:pathLst>
              <a:path h="3680677" w="6345996">
                <a:moveTo>
                  <a:pt x="0" y="0"/>
                </a:moveTo>
                <a:lnTo>
                  <a:pt x="6345995" y="0"/>
                </a:lnTo>
                <a:lnTo>
                  <a:pt x="6345995" y="3680677"/>
                </a:lnTo>
                <a:lnTo>
                  <a:pt x="0" y="36806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598" y="993775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9" y="0"/>
                </a:lnTo>
                <a:lnTo>
                  <a:pt x="1399299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86653" y="7005568"/>
            <a:ext cx="6345996" cy="3014348"/>
          </a:xfrm>
          <a:custGeom>
            <a:avLst/>
            <a:gdLst/>
            <a:ahLst/>
            <a:cxnLst/>
            <a:rect r="r" b="b" t="t" l="l"/>
            <a:pathLst>
              <a:path h="3014348" w="6345996">
                <a:moveTo>
                  <a:pt x="0" y="0"/>
                </a:moveTo>
                <a:lnTo>
                  <a:pt x="6345995" y="0"/>
                </a:lnTo>
                <a:lnTo>
                  <a:pt x="6345995" y="3014348"/>
                </a:lnTo>
                <a:lnTo>
                  <a:pt x="0" y="3014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586653" y="2218898"/>
            <a:ext cx="6540178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 spc="-112">
                <a:solidFill>
                  <a:srgbClr val="FEFEF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Insurance Coverage ≠ Equal Access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1168" y="1914098"/>
            <a:ext cx="11054555" cy="119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11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Insurance Coverage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 spc="-11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But </a:t>
            </a:r>
            <a:r>
              <a:rPr lang="en-US" b="true" sz="3200" spc="-11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Insurance Inequities Persist</a:t>
            </a:r>
            <a:r>
              <a:rPr lang="en-US" sz="3200" spc="-11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59425" y="1545217"/>
            <a:ext cx="1759322" cy="1166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7"/>
              </a:lnSpc>
              <a:spcBef>
                <a:spcPct val="0"/>
              </a:spcBef>
            </a:pPr>
            <a:r>
              <a:rPr lang="en-US" b="true" sz="6305" spc="-22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92%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539528" y="-49400"/>
            <a:ext cx="10302043" cy="107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7"/>
              </a:lnSpc>
              <a:spcBef>
                <a:spcPct val="0"/>
              </a:spcBef>
            </a:pPr>
            <a:r>
              <a:rPr lang="en-US" sz="6305" spc="-220">
                <a:solidFill>
                  <a:srgbClr val="FEFEF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Insurance disparities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77197" y="1685578"/>
            <a:ext cx="10863213" cy="7821514"/>
          </a:xfrm>
          <a:custGeom>
            <a:avLst/>
            <a:gdLst/>
            <a:ahLst/>
            <a:cxnLst/>
            <a:rect r="r" b="b" t="t" l="l"/>
            <a:pathLst>
              <a:path h="7821514" w="10863213">
                <a:moveTo>
                  <a:pt x="0" y="0"/>
                </a:moveTo>
                <a:lnTo>
                  <a:pt x="10863213" y="0"/>
                </a:lnTo>
                <a:lnTo>
                  <a:pt x="10863213" y="7821514"/>
                </a:lnTo>
                <a:lnTo>
                  <a:pt x="0" y="782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1980" y="3382616"/>
            <a:ext cx="6690072" cy="175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37"/>
              </a:lnSpc>
              <a:spcBef>
                <a:spcPct val="0"/>
              </a:spcBef>
            </a:pPr>
            <a:r>
              <a:rPr lang="en-US" sz="14297" spc="-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48.1%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1629" y="5442424"/>
            <a:ext cx="5764370" cy="5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2"/>
              </a:lnSpc>
            </a:pPr>
            <a:r>
              <a:rPr lang="en-US" sz="3754" spc="-13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Hypertension Prevalence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9406" y="6174590"/>
            <a:ext cx="5256412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 spc="-119">
                <a:solidFill>
                  <a:srgbClr val="FEFEF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Only </a:t>
            </a:r>
            <a:r>
              <a:rPr lang="en-US" b="true" sz="2999" spc="-119">
                <a:solidFill>
                  <a:srgbClr val="FEFEF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25% </a:t>
            </a:r>
            <a:r>
              <a:rPr lang="en-US" sz="2999" spc="-119">
                <a:solidFill>
                  <a:srgbClr val="FEFEF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manage to control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2145" y="197411"/>
            <a:ext cx="6887914" cy="107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3"/>
              </a:lnSpc>
              <a:spcBef>
                <a:spcPct val="0"/>
              </a:spcBef>
            </a:pPr>
            <a:r>
              <a:rPr lang="en-US" sz="6309" spc="-252">
                <a:solidFill>
                  <a:srgbClr val="FEFEF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Hypertension Burden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81980" y="1371372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9" y="0"/>
                </a:lnTo>
                <a:lnTo>
                  <a:pt x="1399299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786809" y="9709248"/>
            <a:ext cx="16113954" cy="464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  <a:spcBef>
                <a:spcPct val="0"/>
              </a:spcBef>
            </a:pPr>
            <a:r>
              <a:rPr lang="en-US" sz="2722" spc="-1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[1] https://www.cdc.gov/high-blood-pressure/data-research/facts-stats/index.html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14844" y="1586060"/>
            <a:ext cx="7481998" cy="7481998"/>
          </a:xfrm>
          <a:custGeom>
            <a:avLst/>
            <a:gdLst/>
            <a:ahLst/>
            <a:cxnLst/>
            <a:rect r="r" b="b" t="t" l="l"/>
            <a:pathLst>
              <a:path h="7481998" w="7481998">
                <a:moveTo>
                  <a:pt x="0" y="0"/>
                </a:moveTo>
                <a:lnTo>
                  <a:pt x="7481997" y="0"/>
                </a:lnTo>
                <a:lnTo>
                  <a:pt x="7481997" y="7481998"/>
                </a:lnTo>
                <a:lnTo>
                  <a:pt x="0" y="74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4350" y="397904"/>
            <a:ext cx="17259300" cy="63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4612" spc="-16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Fa</a:t>
            </a:r>
            <a:r>
              <a:rPr lang="en-US" sz="4612" spc="-16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ctors Shape Insurance Choice and Hypertension Risk？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4350" y="3749553"/>
            <a:ext cx="4360147" cy="280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500" spc="-44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Identify </a:t>
            </a:r>
          </a:p>
          <a:p>
            <a:pPr algn="l">
              <a:lnSpc>
                <a:spcPts val="4410"/>
              </a:lnSpc>
            </a:pPr>
            <a:r>
              <a:rPr lang="en-US" sz="4500" spc="-44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Key Patterns Behind Insurance Types</a:t>
            </a:r>
          </a:p>
          <a:p>
            <a:pPr algn="l">
              <a:lnSpc>
                <a:spcPts val="441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044867" y="4257675"/>
            <a:ext cx="3461891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Predict Hypertension Risk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25944" y="9172575"/>
            <a:ext cx="911892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spc="-17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Detect vulnerable population subgroups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3575">
            <a:off x="9758189" y="-3862797"/>
            <a:ext cx="17861956" cy="10684697"/>
          </a:xfrm>
          <a:custGeom>
            <a:avLst/>
            <a:gdLst/>
            <a:ahLst/>
            <a:cxnLst/>
            <a:rect r="r" b="b" t="t" l="l"/>
            <a:pathLst>
              <a:path h="10684697" w="17861956">
                <a:moveTo>
                  <a:pt x="0" y="0"/>
                </a:moveTo>
                <a:lnTo>
                  <a:pt x="17861956" y="0"/>
                </a:lnTo>
                <a:lnTo>
                  <a:pt x="17861956" y="10684697"/>
                </a:lnTo>
                <a:lnTo>
                  <a:pt x="0" y="10684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4726" y="2545977"/>
            <a:ext cx="17010253" cy="7367761"/>
            <a:chOff x="0" y="0"/>
            <a:chExt cx="4480067" cy="19404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0066" cy="1940480"/>
            </a:xfrm>
            <a:custGeom>
              <a:avLst/>
              <a:gdLst/>
              <a:ahLst/>
              <a:cxnLst/>
              <a:rect r="r" b="b" t="t" l="l"/>
              <a:pathLst>
                <a:path h="1940480" w="4480066">
                  <a:moveTo>
                    <a:pt x="9558" y="0"/>
                  </a:moveTo>
                  <a:lnTo>
                    <a:pt x="4470509" y="0"/>
                  </a:lnTo>
                  <a:cubicBezTo>
                    <a:pt x="4473044" y="0"/>
                    <a:pt x="4475474" y="1007"/>
                    <a:pt x="4477267" y="2799"/>
                  </a:cubicBezTo>
                  <a:cubicBezTo>
                    <a:pt x="4479060" y="4592"/>
                    <a:pt x="4480066" y="7023"/>
                    <a:pt x="4480066" y="9558"/>
                  </a:cubicBezTo>
                  <a:lnTo>
                    <a:pt x="4480066" y="1930922"/>
                  </a:lnTo>
                  <a:cubicBezTo>
                    <a:pt x="4480066" y="1933457"/>
                    <a:pt x="4479060" y="1935888"/>
                    <a:pt x="4477267" y="1937681"/>
                  </a:cubicBezTo>
                  <a:cubicBezTo>
                    <a:pt x="4475474" y="1939473"/>
                    <a:pt x="4473044" y="1940480"/>
                    <a:pt x="4470509" y="1940480"/>
                  </a:cubicBezTo>
                  <a:lnTo>
                    <a:pt x="9558" y="1940480"/>
                  </a:lnTo>
                  <a:cubicBezTo>
                    <a:pt x="7023" y="1940480"/>
                    <a:pt x="4592" y="1939473"/>
                    <a:pt x="2799" y="1937681"/>
                  </a:cubicBezTo>
                  <a:cubicBezTo>
                    <a:pt x="1007" y="1935888"/>
                    <a:pt x="0" y="1933457"/>
                    <a:pt x="0" y="1930922"/>
                  </a:cubicBezTo>
                  <a:lnTo>
                    <a:pt x="0" y="9558"/>
                  </a:lnTo>
                  <a:cubicBezTo>
                    <a:pt x="0" y="7023"/>
                    <a:pt x="1007" y="4592"/>
                    <a:pt x="2799" y="2799"/>
                  </a:cubicBezTo>
                  <a:cubicBezTo>
                    <a:pt x="4592" y="1007"/>
                    <a:pt x="7023" y="0"/>
                    <a:pt x="95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424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480067" cy="1969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24726" y="912275"/>
            <a:ext cx="9787266" cy="99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40"/>
              </a:lnSpc>
              <a:spcBef>
                <a:spcPct val="0"/>
              </a:spcBef>
            </a:pPr>
            <a:r>
              <a:rPr lang="en-US" sz="8675" spc="-30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Project Workflow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225913" y="647421"/>
            <a:ext cx="3431740" cy="3427451"/>
          </a:xfrm>
          <a:custGeom>
            <a:avLst/>
            <a:gdLst/>
            <a:ahLst/>
            <a:cxnLst/>
            <a:rect r="r" b="b" t="t" l="l"/>
            <a:pathLst>
              <a:path h="3427451" w="3431740">
                <a:moveTo>
                  <a:pt x="0" y="0"/>
                </a:moveTo>
                <a:lnTo>
                  <a:pt x="3431740" y="0"/>
                </a:lnTo>
                <a:lnTo>
                  <a:pt x="3431740" y="3427450"/>
                </a:lnTo>
                <a:lnTo>
                  <a:pt x="0" y="3427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693603" y="7049185"/>
            <a:ext cx="4900793" cy="2455371"/>
            <a:chOff x="0" y="0"/>
            <a:chExt cx="1290744" cy="6466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0744" cy="646682"/>
            </a:xfrm>
            <a:custGeom>
              <a:avLst/>
              <a:gdLst/>
              <a:ahLst/>
              <a:cxnLst/>
              <a:rect r="r" b="b" t="t" l="l"/>
              <a:pathLst>
                <a:path h="646682" w="1290744">
                  <a:moveTo>
                    <a:pt x="39493" y="0"/>
                  </a:moveTo>
                  <a:lnTo>
                    <a:pt x="1251251" y="0"/>
                  </a:lnTo>
                  <a:cubicBezTo>
                    <a:pt x="1261725" y="0"/>
                    <a:pt x="1271770" y="4161"/>
                    <a:pt x="1279177" y="11567"/>
                  </a:cubicBezTo>
                  <a:cubicBezTo>
                    <a:pt x="1286583" y="18974"/>
                    <a:pt x="1290744" y="29019"/>
                    <a:pt x="1290744" y="39493"/>
                  </a:cubicBezTo>
                  <a:lnTo>
                    <a:pt x="1290744" y="607189"/>
                  </a:lnTo>
                  <a:cubicBezTo>
                    <a:pt x="1290744" y="617663"/>
                    <a:pt x="1286583" y="627708"/>
                    <a:pt x="1279177" y="635115"/>
                  </a:cubicBezTo>
                  <a:cubicBezTo>
                    <a:pt x="1271770" y="642521"/>
                    <a:pt x="1261725" y="646682"/>
                    <a:pt x="1251251" y="646682"/>
                  </a:cubicBezTo>
                  <a:lnTo>
                    <a:pt x="39493" y="646682"/>
                  </a:lnTo>
                  <a:cubicBezTo>
                    <a:pt x="29019" y="646682"/>
                    <a:pt x="18974" y="642521"/>
                    <a:pt x="11567" y="635115"/>
                  </a:cubicBezTo>
                  <a:cubicBezTo>
                    <a:pt x="4161" y="627708"/>
                    <a:pt x="0" y="617663"/>
                    <a:pt x="0" y="607189"/>
                  </a:cubicBezTo>
                  <a:lnTo>
                    <a:pt x="0" y="39493"/>
                  </a:lnTo>
                  <a:cubicBezTo>
                    <a:pt x="0" y="29019"/>
                    <a:pt x="4161" y="18974"/>
                    <a:pt x="11567" y="11567"/>
                  </a:cubicBezTo>
                  <a:cubicBezTo>
                    <a:pt x="18974" y="4161"/>
                    <a:pt x="29019" y="0"/>
                    <a:pt x="394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FFF">
                  <a:alpha val="47843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90744" cy="67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4305" y="7049185"/>
            <a:ext cx="4900793" cy="2455371"/>
            <a:chOff x="0" y="0"/>
            <a:chExt cx="1290744" cy="6466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0744" cy="646682"/>
            </a:xfrm>
            <a:custGeom>
              <a:avLst/>
              <a:gdLst/>
              <a:ahLst/>
              <a:cxnLst/>
              <a:rect r="r" b="b" t="t" l="l"/>
              <a:pathLst>
                <a:path h="646682" w="1290744">
                  <a:moveTo>
                    <a:pt x="39493" y="0"/>
                  </a:moveTo>
                  <a:lnTo>
                    <a:pt x="1251251" y="0"/>
                  </a:lnTo>
                  <a:cubicBezTo>
                    <a:pt x="1261725" y="0"/>
                    <a:pt x="1271770" y="4161"/>
                    <a:pt x="1279177" y="11567"/>
                  </a:cubicBezTo>
                  <a:cubicBezTo>
                    <a:pt x="1286583" y="18974"/>
                    <a:pt x="1290744" y="29019"/>
                    <a:pt x="1290744" y="39493"/>
                  </a:cubicBezTo>
                  <a:lnTo>
                    <a:pt x="1290744" y="607189"/>
                  </a:lnTo>
                  <a:cubicBezTo>
                    <a:pt x="1290744" y="617663"/>
                    <a:pt x="1286583" y="627708"/>
                    <a:pt x="1279177" y="635115"/>
                  </a:cubicBezTo>
                  <a:cubicBezTo>
                    <a:pt x="1271770" y="642521"/>
                    <a:pt x="1261725" y="646682"/>
                    <a:pt x="1251251" y="646682"/>
                  </a:cubicBezTo>
                  <a:lnTo>
                    <a:pt x="39493" y="646682"/>
                  </a:lnTo>
                  <a:cubicBezTo>
                    <a:pt x="29019" y="646682"/>
                    <a:pt x="18974" y="642521"/>
                    <a:pt x="11567" y="635115"/>
                  </a:cubicBezTo>
                  <a:cubicBezTo>
                    <a:pt x="4161" y="627708"/>
                    <a:pt x="0" y="617663"/>
                    <a:pt x="0" y="607189"/>
                  </a:cubicBezTo>
                  <a:lnTo>
                    <a:pt x="0" y="39493"/>
                  </a:lnTo>
                  <a:cubicBezTo>
                    <a:pt x="0" y="29019"/>
                    <a:pt x="4161" y="18974"/>
                    <a:pt x="11567" y="11567"/>
                  </a:cubicBezTo>
                  <a:cubicBezTo>
                    <a:pt x="18974" y="4161"/>
                    <a:pt x="29019" y="0"/>
                    <a:pt x="394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FFF">
                  <a:alpha val="47843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290744" cy="67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506834" y="2713643"/>
            <a:ext cx="11869997" cy="82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3"/>
              </a:lnSpc>
            </a:pPr>
            <a:r>
              <a:rPr lang="en-US" sz="2812" spc="-98">
                <a:solidFill>
                  <a:srgbClr val="FFFFFF">
                    <a:alpha val="6392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Focus Two Key Determinants:</a:t>
            </a:r>
          </a:p>
          <a:p>
            <a:pPr algn="ctr" marL="0" indent="0" lvl="0">
              <a:lnSpc>
                <a:spcPts val="3163"/>
              </a:lnSpc>
            </a:pPr>
            <a:r>
              <a:rPr lang="en-US" b="true" sz="3012" spc="-105">
                <a:solidFill>
                  <a:srgbClr val="FFFFFF">
                    <a:alpha val="63922"/>
                  </a:srgbClr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Drivers of Insurance Type &amp; Hypertension Risk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085622" y="1118288"/>
            <a:ext cx="1938071" cy="1938071"/>
          </a:xfrm>
          <a:custGeom>
            <a:avLst/>
            <a:gdLst/>
            <a:ahLst/>
            <a:cxnLst/>
            <a:rect r="r" b="b" t="t" l="l"/>
            <a:pathLst>
              <a:path h="1938071" w="1938071">
                <a:moveTo>
                  <a:pt x="0" y="0"/>
                </a:moveTo>
                <a:lnTo>
                  <a:pt x="1938071" y="0"/>
                </a:lnTo>
                <a:lnTo>
                  <a:pt x="1938071" y="1938071"/>
                </a:lnTo>
                <a:lnTo>
                  <a:pt x="0" y="1938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86767" y="3853075"/>
            <a:ext cx="4900793" cy="2455371"/>
            <a:chOff x="0" y="0"/>
            <a:chExt cx="1290744" cy="6466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0744" cy="646682"/>
            </a:xfrm>
            <a:custGeom>
              <a:avLst/>
              <a:gdLst/>
              <a:ahLst/>
              <a:cxnLst/>
              <a:rect r="r" b="b" t="t" l="l"/>
              <a:pathLst>
                <a:path h="646682" w="1290744">
                  <a:moveTo>
                    <a:pt x="39493" y="0"/>
                  </a:moveTo>
                  <a:lnTo>
                    <a:pt x="1251251" y="0"/>
                  </a:lnTo>
                  <a:cubicBezTo>
                    <a:pt x="1261725" y="0"/>
                    <a:pt x="1271770" y="4161"/>
                    <a:pt x="1279177" y="11567"/>
                  </a:cubicBezTo>
                  <a:cubicBezTo>
                    <a:pt x="1286583" y="18974"/>
                    <a:pt x="1290744" y="29019"/>
                    <a:pt x="1290744" y="39493"/>
                  </a:cubicBezTo>
                  <a:lnTo>
                    <a:pt x="1290744" y="607189"/>
                  </a:lnTo>
                  <a:cubicBezTo>
                    <a:pt x="1290744" y="617663"/>
                    <a:pt x="1286583" y="627708"/>
                    <a:pt x="1279177" y="635115"/>
                  </a:cubicBezTo>
                  <a:cubicBezTo>
                    <a:pt x="1271770" y="642521"/>
                    <a:pt x="1261725" y="646682"/>
                    <a:pt x="1251251" y="646682"/>
                  </a:cubicBezTo>
                  <a:lnTo>
                    <a:pt x="39493" y="646682"/>
                  </a:lnTo>
                  <a:cubicBezTo>
                    <a:pt x="29019" y="646682"/>
                    <a:pt x="18974" y="642521"/>
                    <a:pt x="11567" y="635115"/>
                  </a:cubicBezTo>
                  <a:cubicBezTo>
                    <a:pt x="4161" y="627708"/>
                    <a:pt x="0" y="617663"/>
                    <a:pt x="0" y="607189"/>
                  </a:cubicBezTo>
                  <a:lnTo>
                    <a:pt x="0" y="39493"/>
                  </a:lnTo>
                  <a:cubicBezTo>
                    <a:pt x="0" y="29019"/>
                    <a:pt x="4161" y="18974"/>
                    <a:pt x="11567" y="11567"/>
                  </a:cubicBezTo>
                  <a:cubicBezTo>
                    <a:pt x="18974" y="4161"/>
                    <a:pt x="29019" y="0"/>
                    <a:pt x="394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FFF">
                  <a:alpha val="47843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290744" cy="67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93603" y="3853075"/>
            <a:ext cx="4900793" cy="2455371"/>
            <a:chOff x="0" y="0"/>
            <a:chExt cx="1290744" cy="6466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90744" cy="646682"/>
            </a:xfrm>
            <a:custGeom>
              <a:avLst/>
              <a:gdLst/>
              <a:ahLst/>
              <a:cxnLst/>
              <a:rect r="r" b="b" t="t" l="l"/>
              <a:pathLst>
                <a:path h="646682" w="1290744">
                  <a:moveTo>
                    <a:pt x="39493" y="0"/>
                  </a:moveTo>
                  <a:lnTo>
                    <a:pt x="1251251" y="0"/>
                  </a:lnTo>
                  <a:cubicBezTo>
                    <a:pt x="1261725" y="0"/>
                    <a:pt x="1271770" y="4161"/>
                    <a:pt x="1279177" y="11567"/>
                  </a:cubicBezTo>
                  <a:cubicBezTo>
                    <a:pt x="1286583" y="18974"/>
                    <a:pt x="1290744" y="29019"/>
                    <a:pt x="1290744" y="39493"/>
                  </a:cubicBezTo>
                  <a:lnTo>
                    <a:pt x="1290744" y="607189"/>
                  </a:lnTo>
                  <a:cubicBezTo>
                    <a:pt x="1290744" y="617663"/>
                    <a:pt x="1286583" y="627708"/>
                    <a:pt x="1279177" y="635115"/>
                  </a:cubicBezTo>
                  <a:cubicBezTo>
                    <a:pt x="1271770" y="642521"/>
                    <a:pt x="1261725" y="646682"/>
                    <a:pt x="1251251" y="646682"/>
                  </a:cubicBezTo>
                  <a:lnTo>
                    <a:pt x="39493" y="646682"/>
                  </a:lnTo>
                  <a:cubicBezTo>
                    <a:pt x="29019" y="646682"/>
                    <a:pt x="18974" y="642521"/>
                    <a:pt x="11567" y="635115"/>
                  </a:cubicBezTo>
                  <a:cubicBezTo>
                    <a:pt x="4161" y="627708"/>
                    <a:pt x="0" y="617663"/>
                    <a:pt x="0" y="607189"/>
                  </a:cubicBezTo>
                  <a:lnTo>
                    <a:pt x="0" y="39493"/>
                  </a:lnTo>
                  <a:cubicBezTo>
                    <a:pt x="0" y="29019"/>
                    <a:pt x="4161" y="18974"/>
                    <a:pt x="11567" y="11567"/>
                  </a:cubicBezTo>
                  <a:cubicBezTo>
                    <a:pt x="18974" y="4161"/>
                    <a:pt x="29019" y="0"/>
                    <a:pt x="394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FFF">
                  <a:alpha val="47843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290744" cy="67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03972" y="3853075"/>
            <a:ext cx="4900793" cy="2455371"/>
            <a:chOff x="0" y="0"/>
            <a:chExt cx="1290744" cy="6466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90744" cy="646682"/>
            </a:xfrm>
            <a:custGeom>
              <a:avLst/>
              <a:gdLst/>
              <a:ahLst/>
              <a:cxnLst/>
              <a:rect r="r" b="b" t="t" l="l"/>
              <a:pathLst>
                <a:path h="646682" w="1290744">
                  <a:moveTo>
                    <a:pt x="39493" y="0"/>
                  </a:moveTo>
                  <a:lnTo>
                    <a:pt x="1251251" y="0"/>
                  </a:lnTo>
                  <a:cubicBezTo>
                    <a:pt x="1261725" y="0"/>
                    <a:pt x="1271770" y="4161"/>
                    <a:pt x="1279177" y="11567"/>
                  </a:cubicBezTo>
                  <a:cubicBezTo>
                    <a:pt x="1286583" y="18974"/>
                    <a:pt x="1290744" y="29019"/>
                    <a:pt x="1290744" y="39493"/>
                  </a:cubicBezTo>
                  <a:lnTo>
                    <a:pt x="1290744" y="607189"/>
                  </a:lnTo>
                  <a:cubicBezTo>
                    <a:pt x="1290744" y="617663"/>
                    <a:pt x="1286583" y="627708"/>
                    <a:pt x="1279177" y="635115"/>
                  </a:cubicBezTo>
                  <a:cubicBezTo>
                    <a:pt x="1271770" y="642521"/>
                    <a:pt x="1261725" y="646682"/>
                    <a:pt x="1251251" y="646682"/>
                  </a:cubicBezTo>
                  <a:lnTo>
                    <a:pt x="39493" y="646682"/>
                  </a:lnTo>
                  <a:cubicBezTo>
                    <a:pt x="29019" y="646682"/>
                    <a:pt x="18974" y="642521"/>
                    <a:pt x="11567" y="635115"/>
                  </a:cubicBezTo>
                  <a:cubicBezTo>
                    <a:pt x="4161" y="627708"/>
                    <a:pt x="0" y="617663"/>
                    <a:pt x="0" y="607189"/>
                  </a:cubicBezTo>
                  <a:lnTo>
                    <a:pt x="0" y="39493"/>
                  </a:lnTo>
                  <a:cubicBezTo>
                    <a:pt x="0" y="29019"/>
                    <a:pt x="4161" y="18974"/>
                    <a:pt x="11567" y="11567"/>
                  </a:cubicBezTo>
                  <a:cubicBezTo>
                    <a:pt x="18974" y="4161"/>
                    <a:pt x="29019" y="0"/>
                    <a:pt x="394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FFFFFF">
                  <a:alpha val="47843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290744" cy="67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27567" y="4580488"/>
            <a:ext cx="857419" cy="936553"/>
            <a:chOff x="0" y="0"/>
            <a:chExt cx="594468" cy="6493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468" cy="649333"/>
            </a:xfrm>
            <a:custGeom>
              <a:avLst/>
              <a:gdLst/>
              <a:ahLst/>
              <a:cxnLst/>
              <a:rect r="r" b="b" t="t" l="l"/>
              <a:pathLst>
                <a:path h="649333" w="594468">
                  <a:moveTo>
                    <a:pt x="594468" y="324666"/>
                  </a:moveTo>
                  <a:lnTo>
                    <a:pt x="188068" y="0"/>
                  </a:lnTo>
                  <a:lnTo>
                    <a:pt x="188068" y="203200"/>
                  </a:lnTo>
                  <a:lnTo>
                    <a:pt x="0" y="203200"/>
                  </a:lnTo>
                  <a:lnTo>
                    <a:pt x="0" y="446133"/>
                  </a:lnTo>
                  <a:lnTo>
                    <a:pt x="188068" y="446133"/>
                  </a:lnTo>
                  <a:lnTo>
                    <a:pt x="188068" y="649333"/>
                  </a:lnTo>
                  <a:lnTo>
                    <a:pt x="594468" y="324666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74625"/>
              <a:ext cx="492868" cy="271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621227" y="7994545"/>
            <a:ext cx="4431873" cy="177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712" spc="-94">
                <a:solidFill>
                  <a:srgbClr val="FFFFFF">
                    <a:alpha val="6392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Classification for Prediction:</a:t>
            </a:r>
          </a:p>
          <a:p>
            <a:pPr algn="ctr">
              <a:lnSpc>
                <a:spcPts val="2848"/>
              </a:lnSpc>
            </a:pPr>
            <a:r>
              <a:rPr lang="en-US" sz="2712" spc="-94">
                <a:solidFill>
                  <a:srgbClr val="FFFFFF">
                    <a:alpha val="6392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Decision Tree(Baseline Model)</a:t>
            </a:r>
          </a:p>
          <a:p>
            <a:pPr algn="ctr">
              <a:lnSpc>
                <a:spcPts val="2848"/>
              </a:lnSpc>
            </a:pPr>
            <a:r>
              <a:rPr lang="en-US" sz="2712" spc="-94">
                <a:solidFill>
                  <a:srgbClr val="FFFFFF">
                    <a:alpha val="6392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Random Forest</a:t>
            </a:r>
          </a:p>
          <a:p>
            <a:pPr algn="ctr">
              <a:lnSpc>
                <a:spcPts val="2848"/>
              </a:lnSpc>
            </a:pPr>
            <a:r>
              <a:rPr lang="en-US" sz="2712" spc="-94">
                <a:solidFill>
                  <a:srgbClr val="FFFFFF">
                    <a:alpha val="6392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XGBoost</a:t>
            </a:r>
          </a:p>
          <a:p>
            <a:pPr algn="ctr" marL="0" indent="0" lvl="0">
              <a:lnSpc>
                <a:spcPts val="2848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7148375" y="7994724"/>
            <a:ext cx="3962954" cy="142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712" spc="-94">
                <a:solidFill>
                  <a:srgbClr val="FFFFFF">
                    <a:alpha val="6392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Clustering to Characterize Vulnerable Subpopulations with K-Prototypes</a:t>
            </a:r>
          </a:p>
          <a:p>
            <a:pPr algn="ctr" marL="0" indent="0" lvl="0">
              <a:lnSpc>
                <a:spcPts val="2848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959379" y="7413572"/>
            <a:ext cx="3962954" cy="40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8"/>
              </a:lnSpc>
            </a:pPr>
            <a:r>
              <a:rPr lang="en-US" b="true" sz="2712" i="true" spc="-94">
                <a:solidFill>
                  <a:srgbClr val="FFFFFF">
                    <a:alpha val="63922"/>
                  </a:srgbClr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Phase 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62523" y="7413572"/>
            <a:ext cx="3962954" cy="40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8"/>
              </a:lnSpc>
            </a:pPr>
            <a:r>
              <a:rPr lang="en-US" b="true" sz="2712" i="true" spc="-94">
                <a:solidFill>
                  <a:srgbClr val="FFFFFF">
                    <a:alpha val="63922"/>
                  </a:srgbClr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Phase 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78150" y="4798614"/>
            <a:ext cx="3962954" cy="71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8"/>
              </a:lnSpc>
            </a:pPr>
            <a:r>
              <a:rPr lang="en-US" sz="2712" spc="-94">
                <a:solidFill>
                  <a:srgbClr val="FFFFFF">
                    <a:alpha val="6392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Collection &amp; Preprocessing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81842" y="4217461"/>
            <a:ext cx="3962954" cy="40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8"/>
              </a:lnSpc>
            </a:pPr>
            <a:r>
              <a:rPr lang="en-US" b="true" sz="2712" i="true" spc="-94">
                <a:solidFill>
                  <a:srgbClr val="FFFFFF">
                    <a:alpha val="63922"/>
                  </a:srgbClr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Phase 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84986" y="4798614"/>
            <a:ext cx="3962954" cy="107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8"/>
              </a:lnSpc>
            </a:pPr>
            <a:r>
              <a:rPr lang="en-US" sz="2712" spc="-94">
                <a:solidFill>
                  <a:srgbClr val="FFFFFF">
                    <a:alpha val="6392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Exploratory Analysis to Identify Potential Determinants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88678" y="4217461"/>
            <a:ext cx="3962954" cy="40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8"/>
              </a:lnSpc>
            </a:pPr>
            <a:r>
              <a:rPr lang="en-US" b="true" sz="2712" i="true" spc="-94">
                <a:solidFill>
                  <a:srgbClr val="FFFFFF">
                    <a:alpha val="63922"/>
                  </a:srgbClr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Phase 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95354" y="4798614"/>
            <a:ext cx="3962954" cy="107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8"/>
              </a:lnSpc>
            </a:pPr>
            <a:r>
              <a:rPr lang="en-US" sz="2712" spc="-94">
                <a:solidFill>
                  <a:srgbClr val="FFFFFF">
                    <a:alpha val="6392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Association Rule Mining for Preliminary Factor Discovery with Apriori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99046" y="4217461"/>
            <a:ext cx="3962954" cy="40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8"/>
              </a:lnSpc>
            </a:pPr>
            <a:r>
              <a:rPr lang="en-US" b="true" sz="2712" i="true" spc="-94">
                <a:solidFill>
                  <a:srgbClr val="FFFFFF">
                    <a:alpha val="63922"/>
                  </a:srgbClr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Phase 3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537935" y="4612484"/>
            <a:ext cx="857419" cy="936553"/>
            <a:chOff x="0" y="0"/>
            <a:chExt cx="594468" cy="64933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4468" cy="649333"/>
            </a:xfrm>
            <a:custGeom>
              <a:avLst/>
              <a:gdLst/>
              <a:ahLst/>
              <a:cxnLst/>
              <a:rect r="r" b="b" t="t" l="l"/>
              <a:pathLst>
                <a:path h="649333" w="594468">
                  <a:moveTo>
                    <a:pt x="594468" y="324666"/>
                  </a:moveTo>
                  <a:lnTo>
                    <a:pt x="188068" y="0"/>
                  </a:lnTo>
                  <a:lnTo>
                    <a:pt x="188068" y="203200"/>
                  </a:lnTo>
                  <a:lnTo>
                    <a:pt x="0" y="203200"/>
                  </a:lnTo>
                  <a:lnTo>
                    <a:pt x="0" y="446133"/>
                  </a:lnTo>
                  <a:lnTo>
                    <a:pt x="188068" y="446133"/>
                  </a:lnTo>
                  <a:lnTo>
                    <a:pt x="188068" y="649333"/>
                  </a:lnTo>
                  <a:lnTo>
                    <a:pt x="594468" y="324666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174625"/>
              <a:ext cx="492868" cy="271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843000" y="4580488"/>
            <a:ext cx="857419" cy="936553"/>
            <a:chOff x="0" y="0"/>
            <a:chExt cx="594468" cy="64933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4468" cy="649333"/>
            </a:xfrm>
            <a:custGeom>
              <a:avLst/>
              <a:gdLst/>
              <a:ahLst/>
              <a:cxnLst/>
              <a:rect r="r" b="b" t="t" l="l"/>
              <a:pathLst>
                <a:path h="649333" w="594468">
                  <a:moveTo>
                    <a:pt x="594468" y="324666"/>
                  </a:moveTo>
                  <a:lnTo>
                    <a:pt x="188068" y="0"/>
                  </a:lnTo>
                  <a:lnTo>
                    <a:pt x="188068" y="203200"/>
                  </a:lnTo>
                  <a:lnTo>
                    <a:pt x="0" y="203200"/>
                  </a:lnTo>
                  <a:lnTo>
                    <a:pt x="0" y="446133"/>
                  </a:lnTo>
                  <a:lnTo>
                    <a:pt x="188068" y="446133"/>
                  </a:lnTo>
                  <a:lnTo>
                    <a:pt x="188068" y="649333"/>
                  </a:lnTo>
                  <a:lnTo>
                    <a:pt x="594468" y="324666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174625"/>
              <a:ext cx="492868" cy="271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331259" y="7775295"/>
            <a:ext cx="857419" cy="936553"/>
            <a:chOff x="0" y="0"/>
            <a:chExt cx="594468" cy="64933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94468" cy="649333"/>
            </a:xfrm>
            <a:custGeom>
              <a:avLst/>
              <a:gdLst/>
              <a:ahLst/>
              <a:cxnLst/>
              <a:rect r="r" b="b" t="t" l="l"/>
              <a:pathLst>
                <a:path h="649333" w="594468">
                  <a:moveTo>
                    <a:pt x="594468" y="324666"/>
                  </a:moveTo>
                  <a:lnTo>
                    <a:pt x="188068" y="0"/>
                  </a:lnTo>
                  <a:lnTo>
                    <a:pt x="188068" y="203200"/>
                  </a:lnTo>
                  <a:lnTo>
                    <a:pt x="0" y="203200"/>
                  </a:lnTo>
                  <a:lnTo>
                    <a:pt x="0" y="446133"/>
                  </a:lnTo>
                  <a:lnTo>
                    <a:pt x="188068" y="446133"/>
                  </a:lnTo>
                  <a:lnTo>
                    <a:pt x="188068" y="649333"/>
                  </a:lnTo>
                  <a:lnTo>
                    <a:pt x="594468" y="324666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174625"/>
              <a:ext cx="492868" cy="271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5400000">
            <a:off x="3408455" y="6152199"/>
            <a:ext cx="857419" cy="936553"/>
            <a:chOff x="0" y="0"/>
            <a:chExt cx="594468" cy="64933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4468" cy="649333"/>
            </a:xfrm>
            <a:custGeom>
              <a:avLst/>
              <a:gdLst/>
              <a:ahLst/>
              <a:cxnLst/>
              <a:rect r="r" b="b" t="t" l="l"/>
              <a:pathLst>
                <a:path h="649333" w="594468">
                  <a:moveTo>
                    <a:pt x="594468" y="324666"/>
                  </a:moveTo>
                  <a:lnTo>
                    <a:pt x="188068" y="0"/>
                  </a:lnTo>
                  <a:lnTo>
                    <a:pt x="188068" y="203200"/>
                  </a:lnTo>
                  <a:lnTo>
                    <a:pt x="0" y="203200"/>
                  </a:lnTo>
                  <a:lnTo>
                    <a:pt x="0" y="446133"/>
                  </a:lnTo>
                  <a:lnTo>
                    <a:pt x="188068" y="446133"/>
                  </a:lnTo>
                  <a:lnTo>
                    <a:pt x="188068" y="649333"/>
                  </a:lnTo>
                  <a:lnTo>
                    <a:pt x="594468" y="324666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174625"/>
              <a:ext cx="492868" cy="271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051" y="2189052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9051" y="3280986"/>
            <a:ext cx="4923634" cy="3440389"/>
          </a:xfrm>
          <a:custGeom>
            <a:avLst/>
            <a:gdLst/>
            <a:ahLst/>
            <a:cxnLst/>
            <a:rect r="r" b="b" t="t" l="l"/>
            <a:pathLst>
              <a:path h="3440389" w="4923634">
                <a:moveTo>
                  <a:pt x="0" y="0"/>
                </a:moveTo>
                <a:lnTo>
                  <a:pt x="4923633" y="0"/>
                </a:lnTo>
                <a:lnTo>
                  <a:pt x="4923633" y="3440389"/>
                </a:lnTo>
                <a:lnTo>
                  <a:pt x="0" y="3440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61416" y="0"/>
            <a:ext cx="8826584" cy="1070223"/>
          </a:xfrm>
          <a:custGeom>
            <a:avLst/>
            <a:gdLst/>
            <a:ahLst/>
            <a:cxnLst/>
            <a:rect r="r" b="b" t="t" l="l"/>
            <a:pathLst>
              <a:path h="1070223" w="8826584">
                <a:moveTo>
                  <a:pt x="0" y="0"/>
                </a:moveTo>
                <a:lnTo>
                  <a:pt x="8826584" y="0"/>
                </a:lnTo>
                <a:lnTo>
                  <a:pt x="8826584" y="1070223"/>
                </a:lnTo>
                <a:lnTo>
                  <a:pt x="0" y="1070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70941" y="1009650"/>
            <a:ext cx="9060999" cy="690901"/>
          </a:xfrm>
          <a:custGeom>
            <a:avLst/>
            <a:gdLst/>
            <a:ahLst/>
            <a:cxnLst/>
            <a:rect r="r" b="b" t="t" l="l"/>
            <a:pathLst>
              <a:path h="690901" w="9060999">
                <a:moveTo>
                  <a:pt x="0" y="0"/>
                </a:moveTo>
                <a:lnTo>
                  <a:pt x="9060999" y="0"/>
                </a:lnTo>
                <a:lnTo>
                  <a:pt x="9060999" y="690901"/>
                </a:lnTo>
                <a:lnTo>
                  <a:pt x="0" y="6909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15512" y="3280986"/>
            <a:ext cx="6448370" cy="3417636"/>
          </a:xfrm>
          <a:custGeom>
            <a:avLst/>
            <a:gdLst/>
            <a:ahLst/>
            <a:cxnLst/>
            <a:rect r="r" b="b" t="t" l="l"/>
            <a:pathLst>
              <a:path h="3417636" w="6448370">
                <a:moveTo>
                  <a:pt x="0" y="0"/>
                </a:moveTo>
                <a:lnTo>
                  <a:pt x="6448370" y="0"/>
                </a:lnTo>
                <a:lnTo>
                  <a:pt x="6448370" y="3417636"/>
                </a:lnTo>
                <a:lnTo>
                  <a:pt x="0" y="34176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87842" y="3280986"/>
            <a:ext cx="5917984" cy="3417636"/>
          </a:xfrm>
          <a:custGeom>
            <a:avLst/>
            <a:gdLst/>
            <a:ahLst/>
            <a:cxnLst/>
            <a:rect r="r" b="b" t="t" l="l"/>
            <a:pathLst>
              <a:path h="3417636" w="5917984">
                <a:moveTo>
                  <a:pt x="0" y="0"/>
                </a:moveTo>
                <a:lnTo>
                  <a:pt x="5917984" y="0"/>
                </a:lnTo>
                <a:lnTo>
                  <a:pt x="5917984" y="3417636"/>
                </a:lnTo>
                <a:lnTo>
                  <a:pt x="0" y="34176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58717" y="2534693"/>
            <a:ext cx="6858298" cy="44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0"/>
              </a:lnSpc>
              <a:spcBef>
                <a:spcPct val="0"/>
              </a:spcBef>
            </a:pPr>
            <a:r>
              <a:rPr lang="en-US" sz="24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NHANES</a:t>
            </a:r>
            <a:r>
              <a:rPr lang="en-US" sz="24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August 2021-August 2023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7765" y="479484"/>
            <a:ext cx="8136968" cy="181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Dataset Description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7765" y="6969025"/>
            <a:ext cx="11037452" cy="158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4"/>
              </a:lnSpc>
              <a:spcBef>
                <a:spcPct val="0"/>
              </a:spcBef>
            </a:pPr>
            <a:r>
              <a:rPr lang="en-US" sz="1789" spc="-7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– Demographics Data (DEMO: age, gender, race, education, income-to-poverty ratio)</a:t>
            </a:r>
          </a:p>
          <a:p>
            <a:pPr algn="l">
              <a:lnSpc>
                <a:spcPts val="2504"/>
              </a:lnSpc>
              <a:spcBef>
                <a:spcPct val="0"/>
              </a:spcBef>
            </a:pPr>
            <a:r>
              <a:rPr lang="en-US" sz="1789" spc="-7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– Examination Data (BMX, BPXO: physical measurements such as BMI, sbp, dbp)</a:t>
            </a:r>
          </a:p>
          <a:p>
            <a:pPr algn="l">
              <a:lnSpc>
                <a:spcPts val="2504"/>
              </a:lnSpc>
              <a:spcBef>
                <a:spcPct val="0"/>
              </a:spcBef>
            </a:pPr>
            <a:r>
              <a:rPr lang="en-US" sz="1789" spc="-7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– Laboratory Data (AGP, GLU: clinical indicators (e.g., a1c, glucose))</a:t>
            </a:r>
          </a:p>
          <a:p>
            <a:pPr algn="l">
              <a:lnSpc>
                <a:spcPts val="2504"/>
              </a:lnSpc>
              <a:spcBef>
                <a:spcPct val="0"/>
              </a:spcBef>
            </a:pPr>
            <a:r>
              <a:rPr lang="en-US" sz="1789" spc="-7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– Questionnaire Data (DIQ, HIQ, ect.: self-reported lifestyle behaviors, health conditions, insurance coverage (e.g., smoking, physical activity, sleep hours, diabetes, insurance type))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93571" y="9893371"/>
            <a:ext cx="7882323" cy="26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  <a:spcBef>
                <a:spcPct val="0"/>
              </a:spcBef>
            </a:pPr>
            <a:r>
              <a:rPr lang="en-US" b="true" sz="1596" spc="-63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https://wwwn.cdc.gov/nchs/nhanes/continuousnhanes/default.aspx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47382" y="2534693"/>
            <a:ext cx="4772695" cy="424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5"/>
              </a:lnSpc>
              <a:spcBef>
                <a:spcPct val="0"/>
              </a:spcBef>
            </a:pPr>
            <a:r>
              <a:rPr lang="en-US" b="true" sz="2396" spc="-95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11,933 </a:t>
            </a:r>
            <a:r>
              <a:rPr lang="en-US" sz="2396" spc="-95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observations x </a:t>
            </a:r>
            <a:r>
              <a:rPr lang="en-US" b="true" sz="2396" spc="-95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154 </a:t>
            </a:r>
            <a:r>
              <a:rPr lang="en-US" sz="2396" spc="-95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variables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17884" y="6978550"/>
            <a:ext cx="5387942" cy="55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  <a:spcBef>
                <a:spcPct val="0"/>
              </a:spcBef>
            </a:pPr>
            <a:r>
              <a:rPr lang="en-US" sz="1596" spc="-6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Select </a:t>
            </a:r>
            <a:r>
              <a:rPr lang="en-US" b="true" sz="1596" spc="-63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17 individual NHANES survey component files</a:t>
            </a:r>
            <a:r>
              <a:rPr lang="en-US" sz="1596" spc="-6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&amp; Merge by a unique sequence number (SEQN)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12130" y="3160602"/>
            <a:ext cx="4712701" cy="1578755"/>
          </a:xfrm>
          <a:custGeom>
            <a:avLst/>
            <a:gdLst/>
            <a:ahLst/>
            <a:cxnLst/>
            <a:rect r="r" b="b" t="t" l="l"/>
            <a:pathLst>
              <a:path h="1578755" w="4712701">
                <a:moveTo>
                  <a:pt x="0" y="0"/>
                </a:moveTo>
                <a:lnTo>
                  <a:pt x="4712701" y="0"/>
                </a:lnTo>
                <a:lnTo>
                  <a:pt x="4712701" y="1578755"/>
                </a:lnTo>
                <a:lnTo>
                  <a:pt x="0" y="1578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2130" y="4298976"/>
            <a:ext cx="4712701" cy="3422599"/>
          </a:xfrm>
          <a:custGeom>
            <a:avLst/>
            <a:gdLst/>
            <a:ahLst/>
            <a:cxnLst/>
            <a:rect r="r" b="b" t="t" l="l"/>
            <a:pathLst>
              <a:path h="3422599" w="4712701">
                <a:moveTo>
                  <a:pt x="0" y="0"/>
                </a:moveTo>
                <a:lnTo>
                  <a:pt x="4712701" y="0"/>
                </a:lnTo>
                <a:lnTo>
                  <a:pt x="4712701" y="3422598"/>
                </a:lnTo>
                <a:lnTo>
                  <a:pt x="0" y="3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9051" y="2189052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9691" y="3160602"/>
            <a:ext cx="5917984" cy="3417636"/>
          </a:xfrm>
          <a:custGeom>
            <a:avLst/>
            <a:gdLst/>
            <a:ahLst/>
            <a:cxnLst/>
            <a:rect r="r" b="b" t="t" l="l"/>
            <a:pathLst>
              <a:path h="3417636" w="5917984">
                <a:moveTo>
                  <a:pt x="0" y="0"/>
                </a:moveTo>
                <a:lnTo>
                  <a:pt x="5917984" y="0"/>
                </a:lnTo>
                <a:lnTo>
                  <a:pt x="5917984" y="3417636"/>
                </a:lnTo>
                <a:lnTo>
                  <a:pt x="0" y="3417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89287" y="3160602"/>
            <a:ext cx="6387060" cy="2171600"/>
          </a:xfrm>
          <a:custGeom>
            <a:avLst/>
            <a:gdLst/>
            <a:ahLst/>
            <a:cxnLst/>
            <a:rect r="r" b="b" t="t" l="l"/>
            <a:pathLst>
              <a:path h="2171600" w="6387060">
                <a:moveTo>
                  <a:pt x="0" y="0"/>
                </a:moveTo>
                <a:lnTo>
                  <a:pt x="6387059" y="0"/>
                </a:lnTo>
                <a:lnTo>
                  <a:pt x="6387059" y="2171600"/>
                </a:lnTo>
                <a:lnTo>
                  <a:pt x="0" y="2171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7765" y="479484"/>
            <a:ext cx="8136968" cy="181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Dataset 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2335" y="7751326"/>
            <a:ext cx="4772695" cy="424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5"/>
              </a:lnSpc>
              <a:spcBef>
                <a:spcPct val="0"/>
              </a:spcBef>
            </a:pPr>
            <a:r>
              <a:rPr lang="en-US" b="true" sz="2396" spc="-95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11,933 </a:t>
            </a:r>
            <a:r>
              <a:rPr lang="en-US" sz="2396" spc="-95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observations x </a:t>
            </a:r>
            <a:r>
              <a:rPr lang="en-US" b="true" sz="2396" spc="-95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154 </a:t>
            </a:r>
            <a:r>
              <a:rPr lang="en-US" sz="2396" spc="-95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variables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87650" y="7654899"/>
            <a:ext cx="5193481" cy="168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5"/>
              </a:lnSpc>
            </a:pPr>
            <a:r>
              <a:rPr lang="en-US" sz="2396" spc="-95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Variable renaming and distinct value decode based on the </a:t>
            </a:r>
            <a:r>
              <a:rPr lang="en-US" b="true" sz="2396" i="true" spc="-95">
                <a:solidFill>
                  <a:srgbClr val="FE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Codebook</a:t>
            </a:r>
          </a:p>
          <a:p>
            <a:pPr algn="ctr">
              <a:lnSpc>
                <a:spcPts val="3355"/>
              </a:lnSpc>
              <a:spcBef>
                <a:spcPct val="0"/>
              </a:spcBef>
            </a:pPr>
            <a:r>
              <a:rPr lang="en-US" b="true" sz="2396" i="true" spc="-95">
                <a:solidFill>
                  <a:srgbClr val="FE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27629" y="7751326"/>
            <a:ext cx="4554736" cy="424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5"/>
              </a:lnSpc>
              <a:spcBef>
                <a:spcPct val="0"/>
              </a:spcBef>
            </a:pPr>
            <a:r>
              <a:rPr lang="en-US" b="true" sz="2396" spc="-95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11,933 </a:t>
            </a:r>
            <a:r>
              <a:rPr lang="en-US" sz="2396" spc="-95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observations x </a:t>
            </a:r>
            <a:r>
              <a:rPr lang="en-US" b="true" sz="2396" spc="-95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21 </a:t>
            </a:r>
            <a:r>
              <a:rPr lang="en-US" sz="2396" spc="-95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variables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89287" y="5442666"/>
            <a:ext cx="6387060" cy="138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  <a:spcBef>
                <a:spcPct val="0"/>
              </a:spcBef>
            </a:pPr>
            <a:r>
              <a:rPr lang="en-US" sz="1586" spc="-6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– Demographics: age, gender, education, income poverty ratio</a:t>
            </a:r>
          </a:p>
          <a:p>
            <a:pPr algn="l">
              <a:lnSpc>
                <a:spcPts val="2220"/>
              </a:lnSpc>
              <a:spcBef>
                <a:spcPct val="0"/>
              </a:spcBef>
            </a:pPr>
            <a:r>
              <a:rPr lang="en-US" sz="1586" spc="-6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– Health indicators: sbp, dbp, bmi, diabetes self report</a:t>
            </a:r>
          </a:p>
          <a:p>
            <a:pPr algn="l">
              <a:lnSpc>
                <a:spcPts val="2220"/>
              </a:lnSpc>
              <a:spcBef>
                <a:spcPct val="0"/>
              </a:spcBef>
            </a:pPr>
            <a:r>
              <a:rPr lang="en-US" sz="1586" spc="-6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– Lifestyle:smoking current, smoking ever, physical activity freq, sleep hours</a:t>
            </a:r>
          </a:p>
          <a:p>
            <a:pPr algn="l">
              <a:lnSpc>
                <a:spcPts val="2220"/>
              </a:lnSpc>
              <a:spcBef>
                <a:spcPct val="0"/>
              </a:spcBef>
            </a:pPr>
            <a:r>
              <a:rPr lang="en-US" sz="1586" spc="-6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– Insurance status: insurance type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926" y="323850"/>
            <a:ext cx="6526968" cy="182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1"/>
              </a:lnSpc>
            </a:pPr>
            <a:r>
              <a:rPr lang="en-US" sz="8526" spc="-29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 Preprocessing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19526" y="1938220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6926" y="2931800"/>
            <a:ext cx="7472112" cy="3549253"/>
          </a:xfrm>
          <a:custGeom>
            <a:avLst/>
            <a:gdLst/>
            <a:ahLst/>
            <a:cxnLst/>
            <a:rect r="r" b="b" t="t" l="l"/>
            <a:pathLst>
              <a:path h="3549253" w="7472112">
                <a:moveTo>
                  <a:pt x="0" y="0"/>
                </a:moveTo>
                <a:lnTo>
                  <a:pt x="7472111" y="0"/>
                </a:lnTo>
                <a:lnTo>
                  <a:pt x="7472111" y="3549253"/>
                </a:lnTo>
                <a:lnTo>
                  <a:pt x="0" y="3549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59082" y="2931800"/>
            <a:ext cx="3747610" cy="4169802"/>
          </a:xfrm>
          <a:custGeom>
            <a:avLst/>
            <a:gdLst/>
            <a:ahLst/>
            <a:cxnLst/>
            <a:rect r="r" b="b" t="t" l="l"/>
            <a:pathLst>
              <a:path h="4169802" w="3747610">
                <a:moveTo>
                  <a:pt x="0" y="0"/>
                </a:moveTo>
                <a:lnTo>
                  <a:pt x="3747609" y="0"/>
                </a:lnTo>
                <a:lnTo>
                  <a:pt x="3747609" y="4169802"/>
                </a:lnTo>
                <a:lnTo>
                  <a:pt x="0" y="41698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59453" y="2950850"/>
            <a:ext cx="3110757" cy="4518545"/>
          </a:xfrm>
          <a:custGeom>
            <a:avLst/>
            <a:gdLst/>
            <a:ahLst/>
            <a:cxnLst/>
            <a:rect r="r" b="b" t="t" l="l"/>
            <a:pathLst>
              <a:path h="4518545" w="3110757">
                <a:moveTo>
                  <a:pt x="0" y="0"/>
                </a:moveTo>
                <a:lnTo>
                  <a:pt x="3110757" y="0"/>
                </a:lnTo>
                <a:lnTo>
                  <a:pt x="3110757" y="4518545"/>
                </a:lnTo>
                <a:lnTo>
                  <a:pt x="0" y="45185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59082" y="7818259"/>
            <a:ext cx="391502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Missing Value Check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7255" y="7827784"/>
            <a:ext cx="3926309" cy="35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5"/>
              </a:lnSpc>
              <a:spcBef>
                <a:spcPct val="0"/>
              </a:spcBef>
            </a:pPr>
            <a:r>
              <a:rPr lang="en-US" b="true" sz="1996" spc="-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Summary for Outlier Check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15335" y="7889379"/>
            <a:ext cx="5172665" cy="136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5"/>
              </a:lnSpc>
              <a:spcBef>
                <a:spcPct val="0"/>
              </a:spcBef>
            </a:pPr>
          </a:p>
          <a:p>
            <a:pPr algn="l">
              <a:lnSpc>
                <a:spcPts val="2235"/>
              </a:lnSpc>
              <a:spcBef>
                <a:spcPct val="0"/>
              </a:spcBef>
            </a:pPr>
            <a:r>
              <a:rPr lang="en-US" b="true" sz="1596" spc="-6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Categorical Na → "Unknown"</a:t>
            </a:r>
          </a:p>
          <a:p>
            <a:pPr algn="l">
              <a:lnSpc>
                <a:spcPts val="2235"/>
              </a:lnSpc>
              <a:spcBef>
                <a:spcPct val="0"/>
              </a:spcBef>
            </a:pPr>
            <a:r>
              <a:rPr lang="en-US" b="true" sz="1596" spc="-6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Numeric Na / Outlier → median imputation by_age × gender group → age group → global median</a:t>
            </a:r>
          </a:p>
          <a:p>
            <a:pPr algn="ctr">
              <a:lnSpc>
                <a:spcPts val="223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115335" y="7818259"/>
            <a:ext cx="4660106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Handle the Missing Values and Ouliers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98499"/>
            <a:ext cx="16018529" cy="961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Exploratory Data Analysis (EDA)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54992" y="3465515"/>
            <a:ext cx="12069546" cy="415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777" indent="-507389" lvl="1">
              <a:lnSpc>
                <a:spcPts val="6580"/>
              </a:lnSpc>
              <a:buFont typeface="Arial"/>
              <a:buChar char="•"/>
            </a:pPr>
            <a:r>
              <a:rPr lang="en-US" sz="4700" spc="-1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Dem</a:t>
            </a:r>
            <a:r>
              <a:rPr lang="en-US" sz="4700" spc="-1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ographics</a:t>
            </a:r>
          </a:p>
          <a:p>
            <a:pPr algn="l" marL="1014777" indent="-507389" lvl="1">
              <a:lnSpc>
                <a:spcPts val="6580"/>
              </a:lnSpc>
              <a:buFont typeface="Arial"/>
              <a:buChar char="•"/>
            </a:pPr>
            <a:r>
              <a:rPr lang="en-US" sz="4700" spc="-1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Health Indicators (BMI, SBP, DBP)</a:t>
            </a:r>
          </a:p>
          <a:p>
            <a:pPr algn="l" marL="1014777" indent="-507389" lvl="1">
              <a:lnSpc>
                <a:spcPts val="6580"/>
              </a:lnSpc>
              <a:buFont typeface="Arial"/>
              <a:buChar char="•"/>
            </a:pPr>
            <a:r>
              <a:rPr lang="en-US" sz="4700" spc="-1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Lifestyle Factors</a:t>
            </a:r>
          </a:p>
          <a:p>
            <a:pPr algn="l" marL="1014777" indent="-507389" lvl="1">
              <a:lnSpc>
                <a:spcPts val="6580"/>
              </a:lnSpc>
              <a:buFont typeface="Arial"/>
              <a:buChar char="•"/>
            </a:pPr>
            <a:r>
              <a:rPr lang="en-US" sz="4700" spc="-1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Insurance Status + BP Differences Across Insurance Types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1368" y="1028700"/>
            <a:ext cx="6522576" cy="4467964"/>
          </a:xfrm>
          <a:custGeom>
            <a:avLst/>
            <a:gdLst/>
            <a:ahLst/>
            <a:cxnLst/>
            <a:rect r="r" b="b" t="t" l="l"/>
            <a:pathLst>
              <a:path h="4467964" w="6522576">
                <a:moveTo>
                  <a:pt x="0" y="0"/>
                </a:moveTo>
                <a:lnTo>
                  <a:pt x="6522575" y="0"/>
                </a:lnTo>
                <a:lnTo>
                  <a:pt x="6522575" y="4467964"/>
                </a:lnTo>
                <a:lnTo>
                  <a:pt x="0" y="4467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1368" y="5623130"/>
            <a:ext cx="6522576" cy="4516884"/>
          </a:xfrm>
          <a:custGeom>
            <a:avLst/>
            <a:gdLst/>
            <a:ahLst/>
            <a:cxnLst/>
            <a:rect r="r" b="b" t="t" l="l"/>
            <a:pathLst>
              <a:path h="4516884" w="6522576">
                <a:moveTo>
                  <a:pt x="0" y="0"/>
                </a:moveTo>
                <a:lnTo>
                  <a:pt x="6522575" y="0"/>
                </a:lnTo>
                <a:lnTo>
                  <a:pt x="6522575" y="4516884"/>
                </a:lnTo>
                <a:lnTo>
                  <a:pt x="0" y="4516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46506" y="5627436"/>
            <a:ext cx="6170811" cy="4512578"/>
          </a:xfrm>
          <a:custGeom>
            <a:avLst/>
            <a:gdLst/>
            <a:ahLst/>
            <a:cxnLst/>
            <a:rect r="r" b="b" t="t" l="l"/>
            <a:pathLst>
              <a:path h="4512578" w="6170811">
                <a:moveTo>
                  <a:pt x="0" y="0"/>
                </a:moveTo>
                <a:lnTo>
                  <a:pt x="6170811" y="0"/>
                </a:lnTo>
                <a:lnTo>
                  <a:pt x="6170811" y="4512578"/>
                </a:lnTo>
                <a:lnTo>
                  <a:pt x="0" y="4512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39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46506" y="1028700"/>
            <a:ext cx="4456794" cy="4467964"/>
          </a:xfrm>
          <a:custGeom>
            <a:avLst/>
            <a:gdLst/>
            <a:ahLst/>
            <a:cxnLst/>
            <a:rect r="r" b="b" t="t" l="l"/>
            <a:pathLst>
              <a:path h="4467964" w="4456794">
                <a:moveTo>
                  <a:pt x="0" y="0"/>
                </a:moveTo>
                <a:lnTo>
                  <a:pt x="4456795" y="0"/>
                </a:lnTo>
                <a:lnTo>
                  <a:pt x="4456795" y="4467964"/>
                </a:lnTo>
                <a:lnTo>
                  <a:pt x="0" y="44679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4778" y="238125"/>
            <a:ext cx="11527272" cy="6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1"/>
              </a:lnSpc>
            </a:pPr>
            <a:r>
              <a:rPr lang="en-US" sz="6063" spc="-21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Exploratory Data Analysis (EDA)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17317" y="3965458"/>
            <a:ext cx="5070683" cy="69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sz="5363" i="true" spc="-187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Demographics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200" y="3057753"/>
            <a:ext cx="6817959" cy="4781094"/>
          </a:xfrm>
          <a:custGeom>
            <a:avLst/>
            <a:gdLst/>
            <a:ahLst/>
            <a:cxnLst/>
            <a:rect r="r" b="b" t="t" l="l"/>
            <a:pathLst>
              <a:path h="4781094" w="6817959">
                <a:moveTo>
                  <a:pt x="0" y="0"/>
                </a:moveTo>
                <a:lnTo>
                  <a:pt x="6817959" y="0"/>
                </a:lnTo>
                <a:lnTo>
                  <a:pt x="6817959" y="4781094"/>
                </a:lnTo>
                <a:lnTo>
                  <a:pt x="0" y="4781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98765" y="928693"/>
            <a:ext cx="6817959" cy="4721437"/>
          </a:xfrm>
          <a:custGeom>
            <a:avLst/>
            <a:gdLst/>
            <a:ahLst/>
            <a:cxnLst/>
            <a:rect r="r" b="b" t="t" l="l"/>
            <a:pathLst>
              <a:path h="4721437" w="6817959">
                <a:moveTo>
                  <a:pt x="0" y="0"/>
                </a:moveTo>
                <a:lnTo>
                  <a:pt x="6817959" y="0"/>
                </a:lnTo>
                <a:lnTo>
                  <a:pt x="6817959" y="4721437"/>
                </a:lnTo>
                <a:lnTo>
                  <a:pt x="0" y="4721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98765" y="5650130"/>
            <a:ext cx="6817959" cy="4764049"/>
          </a:xfrm>
          <a:custGeom>
            <a:avLst/>
            <a:gdLst/>
            <a:ahLst/>
            <a:cxnLst/>
            <a:rect r="r" b="b" t="t" l="l"/>
            <a:pathLst>
              <a:path h="4764049" w="6817959">
                <a:moveTo>
                  <a:pt x="0" y="0"/>
                </a:moveTo>
                <a:lnTo>
                  <a:pt x="6817959" y="0"/>
                </a:lnTo>
                <a:lnTo>
                  <a:pt x="6817959" y="4764049"/>
                </a:lnTo>
                <a:lnTo>
                  <a:pt x="0" y="47640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778" y="238125"/>
            <a:ext cx="11527272" cy="6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1"/>
              </a:lnSpc>
            </a:pPr>
            <a:r>
              <a:rPr lang="en-US" sz="6063" spc="-21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Exploratory Data Analysis (EDA)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27965" y="5094784"/>
            <a:ext cx="5070683" cy="13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sz="5363" i="true" spc="-187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Health </a:t>
            </a:r>
          </a:p>
          <a:p>
            <a:pPr algn="ctr">
              <a:lnSpc>
                <a:spcPts val="4291"/>
              </a:lnSpc>
            </a:pPr>
            <a:r>
              <a:rPr lang="en-US" sz="5363" i="true" spc="-187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Indicators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42445" y="1120718"/>
            <a:ext cx="5888414" cy="4776976"/>
          </a:xfrm>
          <a:custGeom>
            <a:avLst/>
            <a:gdLst/>
            <a:ahLst/>
            <a:cxnLst/>
            <a:rect r="r" b="b" t="t" l="l"/>
            <a:pathLst>
              <a:path h="4776976" w="5888414">
                <a:moveTo>
                  <a:pt x="0" y="0"/>
                </a:moveTo>
                <a:lnTo>
                  <a:pt x="5888413" y="0"/>
                </a:lnTo>
                <a:lnTo>
                  <a:pt x="5888413" y="4776976"/>
                </a:lnTo>
                <a:lnTo>
                  <a:pt x="0" y="4776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42445" y="6052239"/>
            <a:ext cx="5888414" cy="4107168"/>
          </a:xfrm>
          <a:custGeom>
            <a:avLst/>
            <a:gdLst/>
            <a:ahLst/>
            <a:cxnLst/>
            <a:rect r="r" b="b" t="t" l="l"/>
            <a:pathLst>
              <a:path h="4107168" w="5888414">
                <a:moveTo>
                  <a:pt x="0" y="0"/>
                </a:moveTo>
                <a:lnTo>
                  <a:pt x="5888413" y="0"/>
                </a:lnTo>
                <a:lnTo>
                  <a:pt x="5888413" y="4107168"/>
                </a:lnTo>
                <a:lnTo>
                  <a:pt x="0" y="4107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778" y="3351543"/>
            <a:ext cx="6570576" cy="4517271"/>
          </a:xfrm>
          <a:custGeom>
            <a:avLst/>
            <a:gdLst/>
            <a:ahLst/>
            <a:cxnLst/>
            <a:rect r="r" b="b" t="t" l="l"/>
            <a:pathLst>
              <a:path h="4517271" w="6570576">
                <a:moveTo>
                  <a:pt x="0" y="0"/>
                </a:moveTo>
                <a:lnTo>
                  <a:pt x="6570576" y="0"/>
                </a:lnTo>
                <a:lnTo>
                  <a:pt x="6570576" y="4517271"/>
                </a:lnTo>
                <a:lnTo>
                  <a:pt x="0" y="4517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38125" y="276225"/>
            <a:ext cx="11527272" cy="6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1"/>
              </a:lnSpc>
            </a:pPr>
            <a:r>
              <a:rPr lang="en-US" sz="6063" spc="-21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Exploratory Data Analysis (EDA)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73758" y="5651911"/>
            <a:ext cx="5070683" cy="69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sz="5363" i="true" spc="-187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Lifestyle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0611" y="1003771"/>
            <a:ext cx="5398931" cy="4258407"/>
          </a:xfrm>
          <a:custGeom>
            <a:avLst/>
            <a:gdLst/>
            <a:ahLst/>
            <a:cxnLst/>
            <a:rect r="r" b="b" t="t" l="l"/>
            <a:pathLst>
              <a:path h="4258407" w="5398931">
                <a:moveTo>
                  <a:pt x="0" y="0"/>
                </a:moveTo>
                <a:lnTo>
                  <a:pt x="5398931" y="0"/>
                </a:lnTo>
                <a:lnTo>
                  <a:pt x="5398931" y="4258406"/>
                </a:lnTo>
                <a:lnTo>
                  <a:pt x="0" y="4258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59839" y="965671"/>
            <a:ext cx="5352468" cy="4375643"/>
          </a:xfrm>
          <a:custGeom>
            <a:avLst/>
            <a:gdLst/>
            <a:ahLst/>
            <a:cxnLst/>
            <a:rect r="r" b="b" t="t" l="l"/>
            <a:pathLst>
              <a:path h="4375643" w="5352468">
                <a:moveTo>
                  <a:pt x="0" y="0"/>
                </a:moveTo>
                <a:lnTo>
                  <a:pt x="5352468" y="0"/>
                </a:lnTo>
                <a:lnTo>
                  <a:pt x="5352468" y="4375642"/>
                </a:lnTo>
                <a:lnTo>
                  <a:pt x="0" y="4375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611" y="5341313"/>
            <a:ext cx="5398931" cy="4170674"/>
          </a:xfrm>
          <a:custGeom>
            <a:avLst/>
            <a:gdLst/>
            <a:ahLst/>
            <a:cxnLst/>
            <a:rect r="r" b="b" t="t" l="l"/>
            <a:pathLst>
              <a:path h="4170674" w="5398931">
                <a:moveTo>
                  <a:pt x="0" y="0"/>
                </a:moveTo>
                <a:lnTo>
                  <a:pt x="5398931" y="0"/>
                </a:lnTo>
                <a:lnTo>
                  <a:pt x="5398931" y="4170674"/>
                </a:lnTo>
                <a:lnTo>
                  <a:pt x="0" y="4170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88414" y="5388938"/>
            <a:ext cx="5386601" cy="4161149"/>
          </a:xfrm>
          <a:custGeom>
            <a:avLst/>
            <a:gdLst/>
            <a:ahLst/>
            <a:cxnLst/>
            <a:rect r="r" b="b" t="t" l="l"/>
            <a:pathLst>
              <a:path h="4161149" w="5386601">
                <a:moveTo>
                  <a:pt x="0" y="0"/>
                </a:moveTo>
                <a:lnTo>
                  <a:pt x="5386600" y="0"/>
                </a:lnTo>
                <a:lnTo>
                  <a:pt x="5386600" y="4161149"/>
                </a:lnTo>
                <a:lnTo>
                  <a:pt x="0" y="4161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4778" y="238125"/>
            <a:ext cx="11527272" cy="6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1"/>
              </a:lnSpc>
            </a:pPr>
            <a:r>
              <a:rPr lang="en-US" sz="6063" spc="-21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Exploratory Data Analysis (EDA)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52050" y="3353517"/>
            <a:ext cx="6046993" cy="2967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</a:pPr>
            <a:r>
              <a:rPr lang="en-US" sz="5163" i="true" spc="-18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Insurance Status</a:t>
            </a:r>
          </a:p>
          <a:p>
            <a:pPr algn="ctr">
              <a:lnSpc>
                <a:spcPts val="4131"/>
              </a:lnSpc>
            </a:pPr>
          </a:p>
          <a:p>
            <a:pPr algn="ctr">
              <a:lnSpc>
                <a:spcPts val="4131"/>
              </a:lnSpc>
            </a:pPr>
            <a:r>
              <a:rPr lang="en-US" sz="5163" i="true" spc="-18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Blood Pressure Differences Across Insurance Types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00640" y="4196366"/>
            <a:ext cx="715252" cy="715252"/>
            <a:chOff x="0" y="0"/>
            <a:chExt cx="188379" cy="188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379" cy="188379"/>
            </a:xfrm>
            <a:custGeom>
              <a:avLst/>
              <a:gdLst/>
              <a:ahLst/>
              <a:cxnLst/>
              <a:rect r="r" b="b" t="t" l="l"/>
              <a:pathLst>
                <a:path h="188379" w="188379">
                  <a:moveTo>
                    <a:pt x="94190" y="0"/>
                  </a:moveTo>
                  <a:lnTo>
                    <a:pt x="94190" y="0"/>
                  </a:lnTo>
                  <a:cubicBezTo>
                    <a:pt x="119170" y="0"/>
                    <a:pt x="143128" y="9924"/>
                    <a:pt x="160792" y="27587"/>
                  </a:cubicBezTo>
                  <a:cubicBezTo>
                    <a:pt x="178456" y="45251"/>
                    <a:pt x="188379" y="69209"/>
                    <a:pt x="188379" y="94190"/>
                  </a:cubicBezTo>
                  <a:lnTo>
                    <a:pt x="188379" y="94190"/>
                  </a:lnTo>
                  <a:cubicBezTo>
                    <a:pt x="188379" y="119170"/>
                    <a:pt x="178456" y="143128"/>
                    <a:pt x="160792" y="160792"/>
                  </a:cubicBezTo>
                  <a:cubicBezTo>
                    <a:pt x="143128" y="178456"/>
                    <a:pt x="119170" y="188379"/>
                    <a:pt x="94190" y="188379"/>
                  </a:cubicBezTo>
                  <a:lnTo>
                    <a:pt x="94190" y="188379"/>
                  </a:lnTo>
                  <a:cubicBezTo>
                    <a:pt x="69209" y="188379"/>
                    <a:pt x="45251" y="178456"/>
                    <a:pt x="27587" y="160792"/>
                  </a:cubicBezTo>
                  <a:cubicBezTo>
                    <a:pt x="9924" y="143128"/>
                    <a:pt x="0" y="119170"/>
                    <a:pt x="0" y="94190"/>
                  </a:cubicBezTo>
                  <a:lnTo>
                    <a:pt x="0" y="94190"/>
                  </a:lnTo>
                  <a:cubicBezTo>
                    <a:pt x="0" y="69209"/>
                    <a:pt x="9924" y="45251"/>
                    <a:pt x="27587" y="27587"/>
                  </a:cubicBezTo>
                  <a:cubicBezTo>
                    <a:pt x="45251" y="9924"/>
                    <a:pt x="69209" y="0"/>
                    <a:pt x="941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8379" cy="21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2680" y="729438"/>
            <a:ext cx="16779753" cy="32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3"/>
              </a:lnSpc>
            </a:pPr>
            <a:r>
              <a:rPr lang="en-US" sz="9035" spc="-3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Association Rule Discovery: Apriori </a:t>
            </a:r>
          </a:p>
          <a:p>
            <a:pPr algn="l">
              <a:lnSpc>
                <a:spcPts val="8493"/>
              </a:lnSpc>
            </a:pPr>
          </a:p>
          <a:p>
            <a:pPr algn="l">
              <a:lnSpc>
                <a:spcPts val="849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47283" y="2423291"/>
            <a:ext cx="9265347" cy="7562839"/>
          </a:xfrm>
          <a:custGeom>
            <a:avLst/>
            <a:gdLst/>
            <a:ahLst/>
            <a:cxnLst/>
            <a:rect r="r" b="b" t="t" l="l"/>
            <a:pathLst>
              <a:path h="7562839" w="9265347">
                <a:moveTo>
                  <a:pt x="0" y="0"/>
                </a:moveTo>
                <a:lnTo>
                  <a:pt x="9265347" y="0"/>
                </a:lnTo>
                <a:lnTo>
                  <a:pt x="9265347" y="7562839"/>
                </a:lnTo>
                <a:lnTo>
                  <a:pt x="0" y="7562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680" y="1743757"/>
            <a:ext cx="6994178" cy="67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5"/>
              </a:lnSpc>
              <a:spcBef>
                <a:spcPct val="0"/>
              </a:spcBef>
            </a:pPr>
            <a:r>
              <a:rPr lang="en-US" sz="3996" spc="-15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3996" spc="-15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ocio-economic → Insurance Type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78212" y="2363363"/>
            <a:ext cx="7081088" cy="502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 spc="-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Rules leading to “Both” (dual coverage):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 spc="-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Older adults</a:t>
            </a:r>
            <a:r>
              <a:rPr lang="en-US" sz="2600" spc="-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such as 'age 61–80' who combine </a:t>
            </a:r>
            <a:r>
              <a:rPr lang="en-US" sz="2600" i="true" spc="-9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Medicare</a:t>
            </a:r>
            <a:r>
              <a:rPr lang="en-US" sz="2600" spc="-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eligibility with private supplemental plans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 spc="-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Rules leading to “Private only” : 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 spc="-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Middle-aged</a:t>
            </a:r>
            <a:r>
              <a:rPr lang="en-US" sz="2600" spc="-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adults with </a:t>
            </a:r>
            <a:r>
              <a:rPr lang="en-US" b="true" sz="2600" spc="-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high-income</a:t>
            </a:r>
            <a:r>
              <a:rPr lang="en-US" sz="2600" spc="-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lang="en-US" b="true" sz="2600" spc="-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college-education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 spc="-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 Rules leading to “Public only”: 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 spc="-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Low-income population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49982" y="2772503"/>
            <a:ext cx="9459950" cy="1255657"/>
            <a:chOff x="0" y="0"/>
            <a:chExt cx="2491510" cy="330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1510" cy="330708"/>
            </a:xfrm>
            <a:custGeom>
              <a:avLst/>
              <a:gdLst/>
              <a:ahLst/>
              <a:cxnLst/>
              <a:rect r="r" b="b" t="t" l="l"/>
              <a:pathLst>
                <a:path h="330708" w="2491510">
                  <a:moveTo>
                    <a:pt x="31099" y="0"/>
                  </a:moveTo>
                  <a:lnTo>
                    <a:pt x="2460411" y="0"/>
                  </a:lnTo>
                  <a:cubicBezTo>
                    <a:pt x="2468659" y="0"/>
                    <a:pt x="2476569" y="3276"/>
                    <a:pt x="2482401" y="9109"/>
                  </a:cubicBezTo>
                  <a:cubicBezTo>
                    <a:pt x="2488233" y="14941"/>
                    <a:pt x="2491510" y="22851"/>
                    <a:pt x="2491510" y="31099"/>
                  </a:cubicBezTo>
                  <a:lnTo>
                    <a:pt x="2491510" y="299609"/>
                  </a:lnTo>
                  <a:cubicBezTo>
                    <a:pt x="2491510" y="316785"/>
                    <a:pt x="2477586" y="330708"/>
                    <a:pt x="2460411" y="330708"/>
                  </a:cubicBezTo>
                  <a:lnTo>
                    <a:pt x="31099" y="330708"/>
                  </a:lnTo>
                  <a:cubicBezTo>
                    <a:pt x="22851" y="330708"/>
                    <a:pt x="14941" y="327432"/>
                    <a:pt x="9109" y="321599"/>
                  </a:cubicBezTo>
                  <a:cubicBezTo>
                    <a:pt x="3276" y="315767"/>
                    <a:pt x="0" y="307857"/>
                    <a:pt x="0" y="299609"/>
                  </a:cubicBezTo>
                  <a:lnTo>
                    <a:pt x="0" y="31099"/>
                  </a:lnTo>
                  <a:cubicBezTo>
                    <a:pt x="0" y="22851"/>
                    <a:pt x="3276" y="14941"/>
                    <a:pt x="9109" y="9109"/>
                  </a:cubicBezTo>
                  <a:cubicBezTo>
                    <a:pt x="14941" y="3276"/>
                    <a:pt x="22851" y="0"/>
                    <a:pt x="31099" y="0"/>
                  </a:cubicBezTo>
                  <a:close/>
                </a:path>
              </a:pathLst>
            </a:custGeom>
            <a:solidFill>
              <a:srgbClr val="5257FA">
                <a:alpha val="21961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491510" cy="35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49982" y="4020873"/>
            <a:ext cx="9459950" cy="1781489"/>
            <a:chOff x="0" y="0"/>
            <a:chExt cx="2491510" cy="4691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91510" cy="469199"/>
            </a:xfrm>
            <a:custGeom>
              <a:avLst/>
              <a:gdLst/>
              <a:ahLst/>
              <a:cxnLst/>
              <a:rect r="r" b="b" t="t" l="l"/>
              <a:pathLst>
                <a:path h="469199" w="2491510">
                  <a:moveTo>
                    <a:pt x="31099" y="0"/>
                  </a:moveTo>
                  <a:lnTo>
                    <a:pt x="2460411" y="0"/>
                  </a:lnTo>
                  <a:cubicBezTo>
                    <a:pt x="2468659" y="0"/>
                    <a:pt x="2476569" y="3276"/>
                    <a:pt x="2482401" y="9109"/>
                  </a:cubicBezTo>
                  <a:cubicBezTo>
                    <a:pt x="2488233" y="14941"/>
                    <a:pt x="2491510" y="22851"/>
                    <a:pt x="2491510" y="31099"/>
                  </a:cubicBezTo>
                  <a:lnTo>
                    <a:pt x="2491510" y="438100"/>
                  </a:lnTo>
                  <a:cubicBezTo>
                    <a:pt x="2491510" y="455275"/>
                    <a:pt x="2477586" y="469199"/>
                    <a:pt x="2460411" y="469199"/>
                  </a:cubicBezTo>
                  <a:lnTo>
                    <a:pt x="31099" y="469199"/>
                  </a:lnTo>
                  <a:cubicBezTo>
                    <a:pt x="22851" y="469199"/>
                    <a:pt x="14941" y="465922"/>
                    <a:pt x="9109" y="460090"/>
                  </a:cubicBezTo>
                  <a:cubicBezTo>
                    <a:pt x="3276" y="454258"/>
                    <a:pt x="0" y="446348"/>
                    <a:pt x="0" y="438100"/>
                  </a:cubicBezTo>
                  <a:lnTo>
                    <a:pt x="0" y="31099"/>
                  </a:lnTo>
                  <a:cubicBezTo>
                    <a:pt x="0" y="22851"/>
                    <a:pt x="3276" y="14941"/>
                    <a:pt x="9109" y="9109"/>
                  </a:cubicBezTo>
                  <a:cubicBezTo>
                    <a:pt x="14941" y="3276"/>
                    <a:pt x="22851" y="0"/>
                    <a:pt x="31099" y="0"/>
                  </a:cubicBezTo>
                  <a:close/>
                </a:path>
              </a:pathLst>
            </a:custGeom>
            <a:solidFill>
              <a:srgbClr val="FFDE59">
                <a:alpha val="1490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491510" cy="497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49982" y="9524295"/>
            <a:ext cx="9459950" cy="461835"/>
            <a:chOff x="0" y="0"/>
            <a:chExt cx="2491510" cy="1216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91510" cy="121635"/>
            </a:xfrm>
            <a:custGeom>
              <a:avLst/>
              <a:gdLst/>
              <a:ahLst/>
              <a:cxnLst/>
              <a:rect r="r" b="b" t="t" l="l"/>
              <a:pathLst>
                <a:path h="121635" w="2491510">
                  <a:moveTo>
                    <a:pt x="31099" y="0"/>
                  </a:moveTo>
                  <a:lnTo>
                    <a:pt x="2460411" y="0"/>
                  </a:lnTo>
                  <a:cubicBezTo>
                    <a:pt x="2468659" y="0"/>
                    <a:pt x="2476569" y="3276"/>
                    <a:pt x="2482401" y="9109"/>
                  </a:cubicBezTo>
                  <a:cubicBezTo>
                    <a:pt x="2488233" y="14941"/>
                    <a:pt x="2491510" y="22851"/>
                    <a:pt x="2491510" y="31099"/>
                  </a:cubicBezTo>
                  <a:lnTo>
                    <a:pt x="2491510" y="90537"/>
                  </a:lnTo>
                  <a:cubicBezTo>
                    <a:pt x="2491510" y="98785"/>
                    <a:pt x="2488233" y="106695"/>
                    <a:pt x="2482401" y="112527"/>
                  </a:cubicBezTo>
                  <a:cubicBezTo>
                    <a:pt x="2476569" y="118359"/>
                    <a:pt x="2468659" y="121635"/>
                    <a:pt x="2460411" y="121635"/>
                  </a:cubicBezTo>
                  <a:lnTo>
                    <a:pt x="31099" y="121635"/>
                  </a:lnTo>
                  <a:cubicBezTo>
                    <a:pt x="13923" y="121635"/>
                    <a:pt x="0" y="107712"/>
                    <a:pt x="0" y="90537"/>
                  </a:cubicBezTo>
                  <a:lnTo>
                    <a:pt x="0" y="31099"/>
                  </a:lnTo>
                  <a:cubicBezTo>
                    <a:pt x="0" y="22851"/>
                    <a:pt x="3276" y="14941"/>
                    <a:pt x="9109" y="9109"/>
                  </a:cubicBezTo>
                  <a:cubicBezTo>
                    <a:pt x="14941" y="3276"/>
                    <a:pt x="22851" y="0"/>
                    <a:pt x="31099" y="0"/>
                  </a:cubicBezTo>
                  <a:close/>
                </a:path>
              </a:pathLst>
            </a:custGeom>
            <a:solidFill>
              <a:srgbClr val="5CE1E6">
                <a:alpha val="15686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491510" cy="150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49982" y="7890086"/>
            <a:ext cx="9459950" cy="461835"/>
            <a:chOff x="0" y="0"/>
            <a:chExt cx="2491510" cy="1216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91510" cy="121635"/>
            </a:xfrm>
            <a:custGeom>
              <a:avLst/>
              <a:gdLst/>
              <a:ahLst/>
              <a:cxnLst/>
              <a:rect r="r" b="b" t="t" l="l"/>
              <a:pathLst>
                <a:path h="121635" w="2491510">
                  <a:moveTo>
                    <a:pt x="31099" y="0"/>
                  </a:moveTo>
                  <a:lnTo>
                    <a:pt x="2460411" y="0"/>
                  </a:lnTo>
                  <a:cubicBezTo>
                    <a:pt x="2468659" y="0"/>
                    <a:pt x="2476569" y="3276"/>
                    <a:pt x="2482401" y="9109"/>
                  </a:cubicBezTo>
                  <a:cubicBezTo>
                    <a:pt x="2488233" y="14941"/>
                    <a:pt x="2491510" y="22851"/>
                    <a:pt x="2491510" y="31099"/>
                  </a:cubicBezTo>
                  <a:lnTo>
                    <a:pt x="2491510" y="90537"/>
                  </a:lnTo>
                  <a:cubicBezTo>
                    <a:pt x="2491510" y="98785"/>
                    <a:pt x="2488233" y="106695"/>
                    <a:pt x="2482401" y="112527"/>
                  </a:cubicBezTo>
                  <a:cubicBezTo>
                    <a:pt x="2476569" y="118359"/>
                    <a:pt x="2468659" y="121635"/>
                    <a:pt x="2460411" y="121635"/>
                  </a:cubicBezTo>
                  <a:lnTo>
                    <a:pt x="31099" y="121635"/>
                  </a:lnTo>
                  <a:cubicBezTo>
                    <a:pt x="13923" y="121635"/>
                    <a:pt x="0" y="107712"/>
                    <a:pt x="0" y="90537"/>
                  </a:cubicBezTo>
                  <a:lnTo>
                    <a:pt x="0" y="31099"/>
                  </a:lnTo>
                  <a:cubicBezTo>
                    <a:pt x="0" y="22851"/>
                    <a:pt x="3276" y="14941"/>
                    <a:pt x="9109" y="9109"/>
                  </a:cubicBezTo>
                  <a:cubicBezTo>
                    <a:pt x="14941" y="3276"/>
                    <a:pt x="22851" y="0"/>
                    <a:pt x="31099" y="0"/>
                  </a:cubicBezTo>
                  <a:close/>
                </a:path>
              </a:pathLst>
            </a:custGeom>
            <a:solidFill>
              <a:srgbClr val="5CE1E6">
                <a:alpha val="15686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491510" cy="150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00640" y="4196366"/>
            <a:ext cx="715252" cy="715252"/>
            <a:chOff x="0" y="0"/>
            <a:chExt cx="188379" cy="188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379" cy="188379"/>
            </a:xfrm>
            <a:custGeom>
              <a:avLst/>
              <a:gdLst/>
              <a:ahLst/>
              <a:cxnLst/>
              <a:rect r="r" b="b" t="t" l="l"/>
              <a:pathLst>
                <a:path h="188379" w="188379">
                  <a:moveTo>
                    <a:pt x="94190" y="0"/>
                  </a:moveTo>
                  <a:lnTo>
                    <a:pt x="94190" y="0"/>
                  </a:lnTo>
                  <a:cubicBezTo>
                    <a:pt x="119170" y="0"/>
                    <a:pt x="143128" y="9924"/>
                    <a:pt x="160792" y="27587"/>
                  </a:cubicBezTo>
                  <a:cubicBezTo>
                    <a:pt x="178456" y="45251"/>
                    <a:pt x="188379" y="69209"/>
                    <a:pt x="188379" y="94190"/>
                  </a:cubicBezTo>
                  <a:lnTo>
                    <a:pt x="188379" y="94190"/>
                  </a:lnTo>
                  <a:cubicBezTo>
                    <a:pt x="188379" y="119170"/>
                    <a:pt x="178456" y="143128"/>
                    <a:pt x="160792" y="160792"/>
                  </a:cubicBezTo>
                  <a:cubicBezTo>
                    <a:pt x="143128" y="178456"/>
                    <a:pt x="119170" y="188379"/>
                    <a:pt x="94190" y="188379"/>
                  </a:cubicBezTo>
                  <a:lnTo>
                    <a:pt x="94190" y="188379"/>
                  </a:lnTo>
                  <a:cubicBezTo>
                    <a:pt x="69209" y="188379"/>
                    <a:pt x="45251" y="178456"/>
                    <a:pt x="27587" y="160792"/>
                  </a:cubicBezTo>
                  <a:cubicBezTo>
                    <a:pt x="9924" y="143128"/>
                    <a:pt x="0" y="119170"/>
                    <a:pt x="0" y="94190"/>
                  </a:cubicBezTo>
                  <a:lnTo>
                    <a:pt x="0" y="94190"/>
                  </a:lnTo>
                  <a:cubicBezTo>
                    <a:pt x="0" y="69209"/>
                    <a:pt x="9924" y="45251"/>
                    <a:pt x="27587" y="27587"/>
                  </a:cubicBezTo>
                  <a:cubicBezTo>
                    <a:pt x="45251" y="9924"/>
                    <a:pt x="69209" y="0"/>
                    <a:pt x="941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8379" cy="21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2680" y="729438"/>
            <a:ext cx="16779753" cy="32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3"/>
              </a:lnSpc>
            </a:pPr>
            <a:r>
              <a:rPr lang="en-US" sz="9035" spc="-3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Association Rule Discovery: Apriori </a:t>
            </a:r>
          </a:p>
          <a:p>
            <a:pPr algn="l">
              <a:lnSpc>
                <a:spcPts val="8493"/>
              </a:lnSpc>
            </a:pPr>
          </a:p>
          <a:p>
            <a:pPr algn="l">
              <a:lnSpc>
                <a:spcPts val="849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144000" y="2509053"/>
            <a:ext cx="8782795" cy="4292591"/>
          </a:xfrm>
          <a:custGeom>
            <a:avLst/>
            <a:gdLst/>
            <a:ahLst/>
            <a:cxnLst/>
            <a:rect r="r" b="b" t="t" l="l"/>
            <a:pathLst>
              <a:path h="4292591" w="8782795">
                <a:moveTo>
                  <a:pt x="0" y="0"/>
                </a:moveTo>
                <a:lnTo>
                  <a:pt x="8782795" y="0"/>
                </a:lnTo>
                <a:lnTo>
                  <a:pt x="8782795" y="4292591"/>
                </a:lnTo>
                <a:lnTo>
                  <a:pt x="0" y="4292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4709" y="2573510"/>
            <a:ext cx="8607085" cy="4163677"/>
          </a:xfrm>
          <a:custGeom>
            <a:avLst/>
            <a:gdLst/>
            <a:ahLst/>
            <a:cxnLst/>
            <a:rect r="r" b="b" t="t" l="l"/>
            <a:pathLst>
              <a:path h="4163677" w="8607085">
                <a:moveTo>
                  <a:pt x="0" y="0"/>
                </a:moveTo>
                <a:lnTo>
                  <a:pt x="8607085" y="0"/>
                </a:lnTo>
                <a:lnTo>
                  <a:pt x="8607085" y="4163677"/>
                </a:lnTo>
                <a:lnTo>
                  <a:pt x="0" y="41636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1814" y="4553992"/>
            <a:ext cx="8852874" cy="795962"/>
            <a:chOff x="0" y="0"/>
            <a:chExt cx="2331621" cy="2096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1621" cy="209636"/>
            </a:xfrm>
            <a:custGeom>
              <a:avLst/>
              <a:gdLst/>
              <a:ahLst/>
              <a:cxnLst/>
              <a:rect r="r" b="b" t="t" l="l"/>
              <a:pathLst>
                <a:path h="209636" w="2331621">
                  <a:moveTo>
                    <a:pt x="33231" y="0"/>
                  </a:moveTo>
                  <a:lnTo>
                    <a:pt x="2298390" y="0"/>
                  </a:lnTo>
                  <a:cubicBezTo>
                    <a:pt x="2316743" y="0"/>
                    <a:pt x="2331621" y="14878"/>
                    <a:pt x="2331621" y="33231"/>
                  </a:cubicBezTo>
                  <a:lnTo>
                    <a:pt x="2331621" y="176405"/>
                  </a:lnTo>
                  <a:cubicBezTo>
                    <a:pt x="2331621" y="194758"/>
                    <a:pt x="2316743" y="209636"/>
                    <a:pt x="2298390" y="209636"/>
                  </a:cubicBezTo>
                  <a:lnTo>
                    <a:pt x="33231" y="209636"/>
                  </a:lnTo>
                  <a:cubicBezTo>
                    <a:pt x="14878" y="209636"/>
                    <a:pt x="0" y="194758"/>
                    <a:pt x="0" y="176405"/>
                  </a:cubicBezTo>
                  <a:lnTo>
                    <a:pt x="0" y="33231"/>
                  </a:lnTo>
                  <a:cubicBezTo>
                    <a:pt x="0" y="14878"/>
                    <a:pt x="14878" y="0"/>
                    <a:pt x="33231" y="0"/>
                  </a:cubicBezTo>
                  <a:close/>
                </a:path>
              </a:pathLst>
            </a:custGeom>
            <a:solidFill>
              <a:srgbClr val="5CE1E6">
                <a:alpha val="1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1621" cy="238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814" y="2926706"/>
            <a:ext cx="8852874" cy="1728643"/>
            <a:chOff x="0" y="0"/>
            <a:chExt cx="2331621" cy="455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31621" cy="455280"/>
            </a:xfrm>
            <a:custGeom>
              <a:avLst/>
              <a:gdLst/>
              <a:ahLst/>
              <a:cxnLst/>
              <a:rect r="r" b="b" t="t" l="l"/>
              <a:pathLst>
                <a:path h="455280" w="2331621">
                  <a:moveTo>
                    <a:pt x="33231" y="0"/>
                  </a:moveTo>
                  <a:lnTo>
                    <a:pt x="2298390" y="0"/>
                  </a:lnTo>
                  <a:cubicBezTo>
                    <a:pt x="2316743" y="0"/>
                    <a:pt x="2331621" y="14878"/>
                    <a:pt x="2331621" y="33231"/>
                  </a:cubicBezTo>
                  <a:lnTo>
                    <a:pt x="2331621" y="422049"/>
                  </a:lnTo>
                  <a:cubicBezTo>
                    <a:pt x="2331621" y="440402"/>
                    <a:pt x="2316743" y="455280"/>
                    <a:pt x="2298390" y="455280"/>
                  </a:cubicBezTo>
                  <a:lnTo>
                    <a:pt x="33231" y="455280"/>
                  </a:lnTo>
                  <a:cubicBezTo>
                    <a:pt x="14878" y="455280"/>
                    <a:pt x="0" y="440402"/>
                    <a:pt x="0" y="422049"/>
                  </a:cubicBezTo>
                  <a:lnTo>
                    <a:pt x="0" y="33231"/>
                  </a:lnTo>
                  <a:cubicBezTo>
                    <a:pt x="0" y="14878"/>
                    <a:pt x="14878" y="0"/>
                    <a:pt x="33231" y="0"/>
                  </a:cubicBezTo>
                  <a:close/>
                </a:path>
              </a:pathLst>
            </a:custGeom>
            <a:solidFill>
              <a:srgbClr val="FFDE59">
                <a:alpha val="1490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331621" cy="483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-396263" y="1743757"/>
            <a:ext cx="10208893" cy="67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5"/>
              </a:lnSpc>
              <a:spcBef>
                <a:spcPct val="0"/>
              </a:spcBef>
            </a:pPr>
            <a:r>
              <a:rPr lang="en-US" sz="3996" spc="-15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Mult</a:t>
            </a:r>
            <a:r>
              <a:rPr lang="en-US" sz="3996" spc="-15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i-Domain Determinant → Hypertension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74688" y="2772503"/>
            <a:ext cx="9080760" cy="549124"/>
            <a:chOff x="0" y="0"/>
            <a:chExt cx="2391641" cy="1446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91641" cy="144625"/>
            </a:xfrm>
            <a:custGeom>
              <a:avLst/>
              <a:gdLst/>
              <a:ahLst/>
              <a:cxnLst/>
              <a:rect r="r" b="b" t="t" l="l"/>
              <a:pathLst>
                <a:path h="144625" w="2391641">
                  <a:moveTo>
                    <a:pt x="32397" y="0"/>
                  </a:moveTo>
                  <a:lnTo>
                    <a:pt x="2359243" y="0"/>
                  </a:lnTo>
                  <a:cubicBezTo>
                    <a:pt x="2377136" y="0"/>
                    <a:pt x="2391641" y="14505"/>
                    <a:pt x="2391641" y="32397"/>
                  </a:cubicBezTo>
                  <a:lnTo>
                    <a:pt x="2391641" y="112228"/>
                  </a:lnTo>
                  <a:cubicBezTo>
                    <a:pt x="2391641" y="120820"/>
                    <a:pt x="2388227" y="129060"/>
                    <a:pt x="2382152" y="135136"/>
                  </a:cubicBezTo>
                  <a:cubicBezTo>
                    <a:pt x="2376076" y="141212"/>
                    <a:pt x="2367836" y="144625"/>
                    <a:pt x="2359243" y="144625"/>
                  </a:cubicBezTo>
                  <a:lnTo>
                    <a:pt x="32397" y="144625"/>
                  </a:lnTo>
                  <a:cubicBezTo>
                    <a:pt x="14505" y="144625"/>
                    <a:pt x="0" y="130120"/>
                    <a:pt x="0" y="112228"/>
                  </a:cubicBezTo>
                  <a:lnTo>
                    <a:pt x="0" y="32397"/>
                  </a:lnTo>
                  <a:cubicBezTo>
                    <a:pt x="0" y="14505"/>
                    <a:pt x="14505" y="0"/>
                    <a:pt x="32397" y="0"/>
                  </a:cubicBezTo>
                  <a:close/>
                </a:path>
              </a:pathLst>
            </a:custGeom>
            <a:solidFill>
              <a:srgbClr val="5257FA">
                <a:alpha val="21961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391641" cy="173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814" y="6238330"/>
            <a:ext cx="8852874" cy="563314"/>
            <a:chOff x="0" y="0"/>
            <a:chExt cx="2331621" cy="1483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31621" cy="148362"/>
            </a:xfrm>
            <a:custGeom>
              <a:avLst/>
              <a:gdLst/>
              <a:ahLst/>
              <a:cxnLst/>
              <a:rect r="r" b="b" t="t" l="l"/>
              <a:pathLst>
                <a:path h="148362" w="2331621">
                  <a:moveTo>
                    <a:pt x="33231" y="0"/>
                  </a:moveTo>
                  <a:lnTo>
                    <a:pt x="2298390" y="0"/>
                  </a:lnTo>
                  <a:cubicBezTo>
                    <a:pt x="2316743" y="0"/>
                    <a:pt x="2331621" y="14878"/>
                    <a:pt x="2331621" y="33231"/>
                  </a:cubicBezTo>
                  <a:lnTo>
                    <a:pt x="2331621" y="115131"/>
                  </a:lnTo>
                  <a:cubicBezTo>
                    <a:pt x="2331621" y="133484"/>
                    <a:pt x="2316743" y="148362"/>
                    <a:pt x="2298390" y="148362"/>
                  </a:cubicBezTo>
                  <a:lnTo>
                    <a:pt x="33231" y="148362"/>
                  </a:lnTo>
                  <a:cubicBezTo>
                    <a:pt x="14878" y="148362"/>
                    <a:pt x="0" y="133484"/>
                    <a:pt x="0" y="115131"/>
                  </a:cubicBezTo>
                  <a:lnTo>
                    <a:pt x="0" y="33231"/>
                  </a:lnTo>
                  <a:cubicBezTo>
                    <a:pt x="0" y="14878"/>
                    <a:pt x="14878" y="0"/>
                    <a:pt x="33231" y="0"/>
                  </a:cubicBezTo>
                  <a:close/>
                </a:path>
              </a:pathLst>
            </a:custGeom>
            <a:solidFill>
              <a:srgbClr val="5CE1E6">
                <a:alpha val="15686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331621" cy="176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02417" y="7087394"/>
            <a:ext cx="17804981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 spc="-1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Risk-increasing patterns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 spc="-1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Obesity</a:t>
            </a:r>
            <a:r>
              <a:rPr lang="en-US" sz="2600" spc="-1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is one of </a:t>
            </a:r>
            <a:r>
              <a:rPr lang="en-US" b="true" sz="2600" spc="-1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earliest detectable risk markers</a:t>
            </a:r>
            <a:r>
              <a:rPr lang="en-US" sz="2600" spc="-1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This suggests that early </a:t>
            </a:r>
            <a:r>
              <a:rPr lang="en-US" b="true" sz="2600" spc="-1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weight-management interventions</a:t>
            </a:r>
            <a:r>
              <a:rPr lang="en-US" sz="2600" spc="-1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could substantially delay or prevent the transition from Normal BP to Stage 1.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2417" y="8526304"/>
            <a:ext cx="18166186" cy="1372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5"/>
              </a:lnSpc>
              <a:spcBef>
                <a:spcPct val="0"/>
              </a:spcBef>
            </a:pPr>
            <a:r>
              <a:rPr lang="en-US" b="true" sz="2596" spc="-10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sz="2596" spc="-1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b="true" sz="2596" spc="-10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Age-driven patterns</a:t>
            </a:r>
          </a:p>
          <a:p>
            <a:pPr algn="l">
              <a:lnSpc>
                <a:spcPts val="3635"/>
              </a:lnSpc>
              <a:spcBef>
                <a:spcPct val="0"/>
              </a:spcBef>
            </a:pPr>
            <a:r>
              <a:rPr lang="en-US" b="true" sz="2596" spc="-10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 is one of the strongest protective buffer . Young age protects</a:t>
            </a:r>
            <a:r>
              <a:rPr lang="en-US" sz="2596" spc="-1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obesity pushes individuals into Stage 1, and </a:t>
            </a:r>
            <a:r>
              <a:rPr lang="en-US" b="true" sz="2596" spc="-10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aging</a:t>
            </a:r>
            <a:r>
              <a:rPr lang="en-US" sz="2596" spc="-1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ultimately drives progression to </a:t>
            </a:r>
            <a:r>
              <a:rPr lang="en-US" b="true" sz="2596" spc="-10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Stage 2</a:t>
            </a:r>
            <a:r>
              <a:rPr lang="en-US" sz="2596" spc="-1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1934" y="3197135"/>
            <a:ext cx="17354385" cy="4989386"/>
          </a:xfrm>
          <a:custGeom>
            <a:avLst/>
            <a:gdLst/>
            <a:ahLst/>
            <a:cxnLst/>
            <a:rect r="r" b="b" t="t" l="l"/>
            <a:pathLst>
              <a:path h="4989386" w="17354385">
                <a:moveTo>
                  <a:pt x="0" y="0"/>
                </a:moveTo>
                <a:lnTo>
                  <a:pt x="17354386" y="0"/>
                </a:lnTo>
                <a:lnTo>
                  <a:pt x="17354386" y="4989386"/>
                </a:lnTo>
                <a:lnTo>
                  <a:pt x="0" y="4989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1934" y="589483"/>
            <a:ext cx="16263092" cy="190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0"/>
              </a:lnSpc>
            </a:pPr>
            <a:r>
              <a:rPr lang="en-US" sz="8330" spc="-29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Classification for Insurance Type</a:t>
            </a:r>
          </a:p>
          <a:p>
            <a:pPr algn="l">
              <a:lnSpc>
                <a:spcPts val="6796"/>
              </a:lnSpc>
            </a:pPr>
            <a:r>
              <a:rPr lang="en-US" sz="7230" spc="-25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Comparison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1934" y="2446583"/>
            <a:ext cx="9125527" cy="538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0"/>
              </a:lnSpc>
              <a:spcBef>
                <a:spcPct val="0"/>
              </a:spcBef>
            </a:pPr>
            <a:r>
              <a:rPr lang="en-US" sz="299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Decis</a:t>
            </a:r>
            <a:r>
              <a:rPr lang="en-US" sz="299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ion Tree, 👍</a:t>
            </a:r>
            <a:r>
              <a:rPr lang="en-US" b="true" sz="2993" i="true">
                <a:solidFill>
                  <a:srgbClr val="FFFFFF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Random Forest</a:t>
            </a:r>
            <a:r>
              <a:rPr lang="en-US" sz="299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, XGBoost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2949" y="8308657"/>
            <a:ext cx="8204448" cy="180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76" b="true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Optimzation Steps: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7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Expansion</a:t>
            </a:r>
            <a:r>
              <a:rPr lang="en-US" b="true" sz="2000" spc="-7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2000" spc="-7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marital_status, household_size, is_employed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7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Stratified Cross Valiation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7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Oversampling</a:t>
            </a:r>
            <a:r>
              <a:rPr lang="en-US" sz="2000" spc="-7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to address class imbalance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7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Hyperparameter Tuning: Macro-F1</a:t>
            </a:r>
            <a:r>
              <a:rPr lang="en-US" sz="2000" spc="-7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optimization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119" y="500003"/>
            <a:ext cx="11634742" cy="241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6435" spc="-2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Classification for Insurance Type</a:t>
            </a:r>
          </a:p>
          <a:p>
            <a:pPr algn="l">
              <a:lnSpc>
                <a:spcPts val="5391"/>
              </a:lnSpc>
            </a:pPr>
            <a:r>
              <a:rPr lang="en-US" sz="5735" spc="-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Evaluation</a:t>
            </a:r>
          </a:p>
          <a:p>
            <a:pPr algn="l">
              <a:lnSpc>
                <a:spcPts val="7177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19526" y="2004895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18177" y="3339080"/>
            <a:ext cx="6104152" cy="4349208"/>
          </a:xfrm>
          <a:custGeom>
            <a:avLst/>
            <a:gdLst/>
            <a:ahLst/>
            <a:cxnLst/>
            <a:rect r="r" b="b" t="t" l="l"/>
            <a:pathLst>
              <a:path h="4349208" w="6104152">
                <a:moveTo>
                  <a:pt x="0" y="0"/>
                </a:moveTo>
                <a:lnTo>
                  <a:pt x="6104151" y="0"/>
                </a:lnTo>
                <a:lnTo>
                  <a:pt x="6104151" y="4349209"/>
                </a:lnTo>
                <a:lnTo>
                  <a:pt x="0" y="4349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08103" y="3360359"/>
            <a:ext cx="5051790" cy="4306651"/>
          </a:xfrm>
          <a:custGeom>
            <a:avLst/>
            <a:gdLst/>
            <a:ahLst/>
            <a:cxnLst/>
            <a:rect r="r" b="b" t="t" l="l"/>
            <a:pathLst>
              <a:path h="4306651" w="5051790">
                <a:moveTo>
                  <a:pt x="0" y="0"/>
                </a:moveTo>
                <a:lnTo>
                  <a:pt x="5051790" y="0"/>
                </a:lnTo>
                <a:lnTo>
                  <a:pt x="5051790" y="4306651"/>
                </a:lnTo>
                <a:lnTo>
                  <a:pt x="0" y="43066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4119" y="3187229"/>
            <a:ext cx="5050277" cy="4501059"/>
          </a:xfrm>
          <a:custGeom>
            <a:avLst/>
            <a:gdLst/>
            <a:ahLst/>
            <a:cxnLst/>
            <a:rect r="r" b="b" t="t" l="l"/>
            <a:pathLst>
              <a:path h="4501059" w="5050277">
                <a:moveTo>
                  <a:pt x="0" y="0"/>
                </a:moveTo>
                <a:lnTo>
                  <a:pt x="5050277" y="0"/>
                </a:lnTo>
                <a:lnTo>
                  <a:pt x="5050277" y="4501060"/>
                </a:lnTo>
                <a:lnTo>
                  <a:pt x="0" y="45010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02607" y="238713"/>
            <a:ext cx="5885393" cy="2655784"/>
          </a:xfrm>
          <a:custGeom>
            <a:avLst/>
            <a:gdLst/>
            <a:ahLst/>
            <a:cxnLst/>
            <a:rect r="r" b="b" t="t" l="l"/>
            <a:pathLst>
              <a:path h="2655784" w="5885393">
                <a:moveTo>
                  <a:pt x="0" y="0"/>
                </a:moveTo>
                <a:lnTo>
                  <a:pt x="5885393" y="0"/>
                </a:lnTo>
                <a:lnTo>
                  <a:pt x="5885393" y="2655784"/>
                </a:lnTo>
                <a:lnTo>
                  <a:pt x="0" y="26557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4079" y="7804150"/>
            <a:ext cx="5337820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000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dentifies the majority of Private-only (84%) and Both (66%) cases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Most </a:t>
            </a:r>
            <a:r>
              <a:rPr lang="en-US" b="true" sz="2000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confusion occurs </a:t>
            </a:r>
            <a:r>
              <a:rPr lang="en-US" sz="2000" spc="-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between </a:t>
            </a:r>
            <a:r>
              <a:rPr lang="en-US" b="true" sz="2000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Public-only</a:t>
            </a:r>
            <a:r>
              <a:rPr lang="en-US" sz="2000" spc="-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vs. Both and </a:t>
            </a:r>
            <a:r>
              <a:rPr lang="en-US" b="true" sz="2000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Uninsured</a:t>
            </a:r>
            <a:r>
              <a:rPr lang="en-US" sz="2000" spc="-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vs. Public-only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3746" y="7804150"/>
            <a:ext cx="5502168" cy="21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 and income–poverty ratio dominate prediction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Race, employment, and education</a:t>
            </a:r>
            <a:r>
              <a:rPr lang="en-US" sz="2000" spc="-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collectively form </a:t>
            </a:r>
            <a:r>
              <a:rPr lang="en-US" b="true" sz="2000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next tier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Clinical measures</a:t>
            </a:r>
            <a:r>
              <a:rPr lang="en-US" sz="2000" spc="-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(BP, A1C) </a:t>
            </a:r>
            <a:r>
              <a:rPr lang="en-US" b="true" sz="2000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play a smaller role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83134" y="7828346"/>
            <a:ext cx="4381678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Overall model performance is strong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AUC scores are </a:t>
            </a:r>
            <a:r>
              <a:rPr lang="en-US" b="true" sz="2000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 for Private-only (0.92) and Both (0.89)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1934" y="2672371"/>
            <a:ext cx="10790118" cy="7215892"/>
          </a:xfrm>
          <a:custGeom>
            <a:avLst/>
            <a:gdLst/>
            <a:ahLst/>
            <a:cxnLst/>
            <a:rect r="r" b="b" t="t" l="l"/>
            <a:pathLst>
              <a:path h="7215892" w="10790118">
                <a:moveTo>
                  <a:pt x="0" y="0"/>
                </a:moveTo>
                <a:lnTo>
                  <a:pt x="10790119" y="0"/>
                </a:lnTo>
                <a:lnTo>
                  <a:pt x="10790119" y="7215892"/>
                </a:lnTo>
                <a:lnTo>
                  <a:pt x="0" y="7215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97556" y="3047062"/>
            <a:ext cx="6374008" cy="2844401"/>
          </a:xfrm>
          <a:custGeom>
            <a:avLst/>
            <a:gdLst/>
            <a:ahLst/>
            <a:cxnLst/>
            <a:rect r="r" b="b" t="t" l="l"/>
            <a:pathLst>
              <a:path h="2844401" w="6374008">
                <a:moveTo>
                  <a:pt x="0" y="0"/>
                </a:moveTo>
                <a:lnTo>
                  <a:pt x="6374007" y="0"/>
                </a:lnTo>
                <a:lnTo>
                  <a:pt x="6374007" y="2844401"/>
                </a:lnTo>
                <a:lnTo>
                  <a:pt x="0" y="2844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1934" y="579958"/>
            <a:ext cx="18090750" cy="162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sz="7430" spc="-26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Classification for Hypertension Risk Prediction</a:t>
            </a:r>
          </a:p>
          <a:p>
            <a:pPr algn="l">
              <a:lnSpc>
                <a:spcPts val="5574"/>
              </a:lnSpc>
            </a:pPr>
            <a:r>
              <a:rPr lang="en-US" sz="5930" spc="-20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Comparison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1934" y="2086415"/>
            <a:ext cx="9125527" cy="538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0"/>
              </a:lnSpc>
              <a:spcBef>
                <a:spcPct val="0"/>
              </a:spcBef>
            </a:pPr>
            <a:r>
              <a:rPr lang="en-US" sz="299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👍</a:t>
            </a:r>
            <a:r>
              <a:rPr lang="en-US" b="true" sz="2993" i="true">
                <a:solidFill>
                  <a:srgbClr val="FFFFFF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Decis</a:t>
            </a:r>
            <a:r>
              <a:rPr lang="en-US" b="true" sz="2993" i="true">
                <a:solidFill>
                  <a:srgbClr val="FFFFFF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ion Tree</a:t>
            </a:r>
            <a:r>
              <a:rPr lang="en-US" sz="299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, Random Forest, XGBoost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97556" y="6087061"/>
            <a:ext cx="6763041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70" b="true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Optimzation Steps: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7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Stratified Cross Valiation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7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Oversampling</a:t>
            </a:r>
            <a:r>
              <a:rPr lang="en-US" sz="2000" spc="-7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to address class imbalance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7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Hyperparameter Tuning: Aveage Recall of Stage 1 + Stage 2 as </a:t>
            </a:r>
            <a:r>
              <a:rPr lang="en-US" sz="2000" spc="-7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the tailored tuning indicator.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97556" y="2567596"/>
            <a:ext cx="5025182" cy="71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b="true" sz="1996" spc="-79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Define hypertension Classification Labels:</a:t>
            </a:r>
          </a:p>
          <a:p>
            <a:pPr algn="ctr">
              <a:lnSpc>
                <a:spcPts val="2795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397556" y="8110171"/>
            <a:ext cx="6002292" cy="176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5"/>
              </a:lnSpc>
            </a:pPr>
            <a:r>
              <a:rPr lang="en-US" sz="1996" spc="-79" b="true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Best Model: Decison Tree:</a:t>
            </a:r>
          </a:p>
          <a:p>
            <a:pPr algn="l" marL="431095" indent="-215547" lvl="1">
              <a:lnSpc>
                <a:spcPts val="2795"/>
              </a:lnSpc>
              <a:buFont typeface="Arial"/>
              <a:buChar char="•"/>
            </a:pPr>
            <a:r>
              <a:rPr lang="en-US" b="true" sz="1996" spc="-79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Clear threshold patterns: Well-defined cutoffs </a:t>
            </a:r>
            <a:r>
              <a:rPr lang="en-US" sz="1996" spc="-79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in variables, such as age, BMI.</a:t>
            </a:r>
          </a:p>
          <a:p>
            <a:pPr algn="l" marL="431095" indent="-215547" lvl="1">
              <a:lnSpc>
                <a:spcPts val="2795"/>
              </a:lnSpc>
              <a:buFont typeface="Arial"/>
              <a:buChar char="•"/>
            </a:pPr>
            <a:r>
              <a:rPr lang="en-US" b="true" sz="1996" spc="-79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Strong rule-based separability - Hypertension stage criteria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9526" y="290445"/>
            <a:ext cx="14286612" cy="26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7"/>
              </a:lnSpc>
            </a:pPr>
            <a:r>
              <a:rPr lang="en-US" sz="5135" spc="-17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Classification for </a:t>
            </a:r>
          </a:p>
          <a:p>
            <a:pPr algn="l">
              <a:lnSpc>
                <a:spcPts val="4827"/>
              </a:lnSpc>
            </a:pPr>
            <a:r>
              <a:rPr lang="en-US" sz="5135" spc="-17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Hypertension Risk Prediction</a:t>
            </a:r>
          </a:p>
          <a:p>
            <a:pPr algn="l">
              <a:lnSpc>
                <a:spcPts val="3887"/>
              </a:lnSpc>
            </a:pPr>
            <a:r>
              <a:rPr lang="en-US" sz="4135" spc="-1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Evaluation</a:t>
            </a:r>
          </a:p>
          <a:p>
            <a:pPr algn="l">
              <a:lnSpc>
                <a:spcPts val="7177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19526" y="2004895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60840" y="2806167"/>
            <a:ext cx="5272911" cy="4495157"/>
          </a:xfrm>
          <a:custGeom>
            <a:avLst/>
            <a:gdLst/>
            <a:ahLst/>
            <a:cxnLst/>
            <a:rect r="r" b="b" t="t" l="l"/>
            <a:pathLst>
              <a:path h="4495157" w="5272911">
                <a:moveTo>
                  <a:pt x="0" y="0"/>
                </a:moveTo>
                <a:lnTo>
                  <a:pt x="5272911" y="0"/>
                </a:lnTo>
                <a:lnTo>
                  <a:pt x="5272911" y="4495157"/>
                </a:lnTo>
                <a:lnTo>
                  <a:pt x="0" y="44951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61753" y="2985676"/>
            <a:ext cx="6988905" cy="4315649"/>
          </a:xfrm>
          <a:custGeom>
            <a:avLst/>
            <a:gdLst/>
            <a:ahLst/>
            <a:cxnLst/>
            <a:rect r="r" b="b" t="t" l="l"/>
            <a:pathLst>
              <a:path h="4315649" w="6988905">
                <a:moveTo>
                  <a:pt x="0" y="0"/>
                </a:moveTo>
                <a:lnTo>
                  <a:pt x="6988905" y="0"/>
                </a:lnTo>
                <a:lnTo>
                  <a:pt x="6988905" y="4315648"/>
                </a:lnTo>
                <a:lnTo>
                  <a:pt x="0" y="4315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4119" y="2985676"/>
            <a:ext cx="4821954" cy="4315649"/>
          </a:xfrm>
          <a:custGeom>
            <a:avLst/>
            <a:gdLst/>
            <a:ahLst/>
            <a:cxnLst/>
            <a:rect r="r" b="b" t="t" l="l"/>
            <a:pathLst>
              <a:path h="4315649" w="4821954">
                <a:moveTo>
                  <a:pt x="0" y="0"/>
                </a:moveTo>
                <a:lnTo>
                  <a:pt x="4821954" y="0"/>
                </a:lnTo>
                <a:lnTo>
                  <a:pt x="4821954" y="4315648"/>
                </a:lnTo>
                <a:lnTo>
                  <a:pt x="0" y="43156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98330" y="0"/>
            <a:ext cx="6889670" cy="2575014"/>
          </a:xfrm>
          <a:custGeom>
            <a:avLst/>
            <a:gdLst/>
            <a:ahLst/>
            <a:cxnLst/>
            <a:rect r="r" b="b" t="t" l="l"/>
            <a:pathLst>
              <a:path h="2575014" w="6889670">
                <a:moveTo>
                  <a:pt x="0" y="0"/>
                </a:moveTo>
                <a:lnTo>
                  <a:pt x="6889670" y="0"/>
                </a:lnTo>
                <a:lnTo>
                  <a:pt x="6889670" y="2575014"/>
                </a:lnTo>
                <a:lnTo>
                  <a:pt x="0" y="25750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9526" y="7842167"/>
            <a:ext cx="5800912" cy="200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-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899" spc="-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dentifies</a:t>
            </a:r>
            <a:r>
              <a:rPr lang="en-US" b="true" sz="1899" spc="-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54% of Normal cases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-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Stage 2 is recovered relatively well (57% recall)</a:t>
            </a:r>
            <a:r>
              <a:rPr lang="en-US" sz="1899" spc="-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showing the model captures the more </a:t>
            </a:r>
            <a:r>
              <a:rPr lang="en-US" b="true" sz="1899" spc="-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severe hypertension patterns</a:t>
            </a:r>
            <a:r>
              <a:rPr lang="en-US" sz="1899" spc="-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aligned with </a:t>
            </a:r>
            <a:r>
              <a:rPr lang="en-US" b="true" sz="1899" spc="-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clearer signals</a:t>
            </a:r>
            <a:r>
              <a:rPr lang="en-US" sz="1899" spc="-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(older Age, higher BMI)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-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Stage 1 exhibits the most confusion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20438" y="7842250"/>
            <a:ext cx="6340402" cy="167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-6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BMI and Age overwhelmingly dominate prediction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-6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Behavioral factors</a:t>
            </a:r>
            <a:r>
              <a:rPr lang="en-US" sz="1899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1899" spc="-6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are additional predictive signal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-6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Socioeconomic variables</a:t>
            </a:r>
            <a:r>
              <a:rPr lang="en-US" sz="1899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play </a:t>
            </a:r>
            <a:r>
              <a:rPr lang="en-US" b="true" sz="1899" spc="-6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secondary role</a:t>
            </a:r>
            <a:r>
              <a:rPr lang="en-US" sz="1899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vs direct physiological indicators.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-6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Insurance type </a:t>
            </a:r>
            <a:r>
              <a:rPr lang="en-US" sz="1899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contributes </a:t>
            </a:r>
            <a:r>
              <a:rPr lang="en-US" b="true" sz="1899" spc="-6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minimally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00336" y="7842167"/>
            <a:ext cx="5067237" cy="167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-6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Normal </a:t>
            </a:r>
            <a:r>
              <a:rPr lang="en-US" sz="1899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lang="en-US" b="true" sz="1899" spc="-6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Stage 2 </a:t>
            </a:r>
            <a:r>
              <a:rPr lang="en-US" sz="1899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are mo</a:t>
            </a:r>
            <a:r>
              <a:rPr lang="en-US" sz="1899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 </a:t>
            </a:r>
            <a:r>
              <a:rPr lang="en-US" b="true" sz="1899" spc="-6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distinguishable</a:t>
            </a:r>
            <a:r>
              <a:rPr lang="en-US" sz="1899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Stage 1 has a lower AUC reflecting real-world difficulty: </a:t>
            </a:r>
            <a:r>
              <a:rPr lang="en-US" b="true" sz="1899" spc="-6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mild hypertension is the hardest to clinically identify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1220" y="38100"/>
            <a:ext cx="17986780" cy="10544750"/>
          </a:xfrm>
          <a:custGeom>
            <a:avLst/>
            <a:gdLst/>
            <a:ahLst/>
            <a:cxnLst/>
            <a:rect r="r" b="b" t="t" l="l"/>
            <a:pathLst>
              <a:path h="10544750" w="17986780">
                <a:moveTo>
                  <a:pt x="0" y="0"/>
                </a:moveTo>
                <a:lnTo>
                  <a:pt x="17986780" y="0"/>
                </a:lnTo>
                <a:lnTo>
                  <a:pt x="17986780" y="10544750"/>
                </a:lnTo>
                <a:lnTo>
                  <a:pt x="0" y="10544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08369" y="451388"/>
            <a:ext cx="12095157" cy="1197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4"/>
              </a:lnSpc>
            </a:pPr>
            <a:r>
              <a:rPr lang="en-US" sz="8430" spc="-295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Clustering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226" y="1915609"/>
            <a:ext cx="2285330" cy="123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9"/>
              </a:lnSpc>
              <a:spcBef>
                <a:spcPct val="0"/>
              </a:spcBef>
            </a:pPr>
            <a:r>
              <a:rPr lang="en-US" b="true" sz="6899" spc="-27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Why?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894009" y="2378272"/>
            <a:ext cx="1180612" cy="530202"/>
          </a:xfrm>
          <a:custGeom>
            <a:avLst/>
            <a:gdLst/>
            <a:ahLst/>
            <a:cxnLst/>
            <a:rect r="r" b="b" t="t" l="l"/>
            <a:pathLst>
              <a:path h="530202" w="1180612">
                <a:moveTo>
                  <a:pt x="0" y="0"/>
                </a:moveTo>
                <a:lnTo>
                  <a:pt x="1180612" y="0"/>
                </a:lnTo>
                <a:lnTo>
                  <a:pt x="1180612" y="530202"/>
                </a:lnTo>
                <a:lnTo>
                  <a:pt x="0" y="530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5330860" y="2020384"/>
            <a:ext cx="12103596" cy="169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168" indent="-345084" lvl="1">
              <a:lnSpc>
                <a:spcPts val="4475"/>
              </a:lnSpc>
              <a:buFont typeface="Arial"/>
              <a:buChar char="•"/>
            </a:pPr>
            <a:r>
              <a:rPr lang="en-US" sz="3196" spc="-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G</a:t>
            </a:r>
            <a:r>
              <a:rPr lang="en-US" sz="3196" spc="-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beyond prediction → Understand population subgroups</a:t>
            </a:r>
          </a:p>
          <a:p>
            <a:pPr algn="ctr" marL="690168" indent="-345084" lvl="1">
              <a:lnSpc>
                <a:spcPts val="4475"/>
              </a:lnSpc>
              <a:buFont typeface="Arial"/>
              <a:buChar char="•"/>
            </a:pPr>
            <a:r>
              <a:rPr lang="en-US" sz="3196" spc="-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Identify high-risk hypertensive groups + uninsured groups</a:t>
            </a:r>
          </a:p>
          <a:p>
            <a:pPr algn="ctr">
              <a:lnSpc>
                <a:spcPts val="447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-1204669" y="4381892"/>
            <a:ext cx="10197355" cy="121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b="true" sz="6699" spc="-26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What Method?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3940122"/>
            <a:ext cx="7790817" cy="284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5"/>
              </a:lnSpc>
            </a:pPr>
            <a:r>
              <a:rPr lang="en-US" b="true" sz="3296" spc="-13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K-Prototypes</a:t>
            </a:r>
          </a:p>
          <a:p>
            <a:pPr algn="l" marL="690168" indent="-345084" lvl="1">
              <a:lnSpc>
                <a:spcPts val="4475"/>
              </a:lnSpc>
              <a:buFont typeface="Arial"/>
              <a:buChar char="•"/>
            </a:pPr>
            <a:r>
              <a:rPr lang="en-US" sz="3196" spc="-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Mix</a:t>
            </a:r>
            <a:r>
              <a:rPr lang="en-US" sz="3196" spc="-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 data : numeric + categorical</a:t>
            </a:r>
          </a:p>
          <a:p>
            <a:pPr algn="l" marL="690168" indent="-345084" lvl="1">
              <a:lnSpc>
                <a:spcPts val="4475"/>
              </a:lnSpc>
              <a:buFont typeface="Arial"/>
              <a:buChar char="•"/>
            </a:pPr>
            <a:r>
              <a:rPr lang="en-US" sz="3196" spc="-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K-Prototypes (Euclidean + matching dissimilarity)</a:t>
            </a:r>
          </a:p>
          <a:p>
            <a:pPr algn="ctr">
              <a:lnSpc>
                <a:spcPts val="4475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919533" y="4926658"/>
            <a:ext cx="1073153" cy="481943"/>
          </a:xfrm>
          <a:custGeom>
            <a:avLst/>
            <a:gdLst/>
            <a:ahLst/>
            <a:cxnLst/>
            <a:rect r="r" b="b" t="t" l="l"/>
            <a:pathLst>
              <a:path h="481943" w="1073153">
                <a:moveTo>
                  <a:pt x="0" y="0"/>
                </a:moveTo>
                <a:lnTo>
                  <a:pt x="1073153" y="0"/>
                </a:lnTo>
                <a:lnTo>
                  <a:pt x="1073153" y="481943"/>
                </a:lnTo>
                <a:lnTo>
                  <a:pt x="0" y="481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876226" y="6831088"/>
            <a:ext cx="5074621" cy="2285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 spc="-25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How Many Clusters?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831127" y="7889959"/>
            <a:ext cx="1180612" cy="530202"/>
          </a:xfrm>
          <a:custGeom>
            <a:avLst/>
            <a:gdLst/>
            <a:ahLst/>
            <a:cxnLst/>
            <a:rect r="r" b="b" t="t" l="l"/>
            <a:pathLst>
              <a:path h="530202" w="1180612">
                <a:moveTo>
                  <a:pt x="0" y="0"/>
                </a:moveTo>
                <a:lnTo>
                  <a:pt x="1180612" y="0"/>
                </a:lnTo>
                <a:lnTo>
                  <a:pt x="1180612" y="530202"/>
                </a:lnTo>
                <a:lnTo>
                  <a:pt x="0" y="530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8682815" y="7147765"/>
            <a:ext cx="7545065" cy="284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5"/>
              </a:lnSpc>
            </a:pPr>
            <a:r>
              <a:rPr lang="en-US" b="true" sz="3296" spc="-13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 = 4</a:t>
            </a:r>
          </a:p>
          <a:p>
            <a:pPr algn="l" marL="690168" indent="-345084" lvl="1">
              <a:lnSpc>
                <a:spcPts val="4475"/>
              </a:lnSpc>
              <a:buFont typeface="Arial"/>
              <a:buChar char="•"/>
            </a:pPr>
            <a:r>
              <a:rPr lang="en-US" sz="3196" spc="-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Elb</a:t>
            </a:r>
            <a:r>
              <a:rPr lang="en-US" sz="3196" spc="-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ow method</a:t>
            </a:r>
          </a:p>
          <a:p>
            <a:pPr algn="ctr" marL="690168" indent="-345084" lvl="1">
              <a:lnSpc>
                <a:spcPts val="4475"/>
              </a:lnSpc>
              <a:buFont typeface="Arial"/>
              <a:buChar char="•"/>
            </a:pPr>
            <a:r>
              <a:rPr lang="en-US" sz="3196" spc="-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Clinical interpretability (HTN severity)</a:t>
            </a:r>
          </a:p>
          <a:p>
            <a:pPr algn="l" marL="690168" indent="-345084" lvl="1">
              <a:lnSpc>
                <a:spcPts val="4475"/>
              </a:lnSpc>
              <a:buFont typeface="Arial"/>
              <a:buChar char="•"/>
            </a:pPr>
            <a:r>
              <a:rPr lang="en-US" sz="3196" spc="-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Balanced cluster size</a:t>
            </a:r>
          </a:p>
          <a:p>
            <a:pPr algn="ctr">
              <a:lnSpc>
                <a:spcPts val="447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103" y="1675534"/>
            <a:ext cx="6888609" cy="623090"/>
          </a:xfrm>
          <a:custGeom>
            <a:avLst/>
            <a:gdLst/>
            <a:ahLst/>
            <a:cxnLst/>
            <a:rect r="r" b="b" t="t" l="l"/>
            <a:pathLst>
              <a:path h="623090" w="6888609">
                <a:moveTo>
                  <a:pt x="0" y="0"/>
                </a:moveTo>
                <a:lnTo>
                  <a:pt x="6888608" y="0"/>
                </a:lnTo>
                <a:lnTo>
                  <a:pt x="6888608" y="623091"/>
                </a:lnTo>
                <a:lnTo>
                  <a:pt x="0" y="623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1103" y="3949291"/>
            <a:ext cx="11301259" cy="4675896"/>
          </a:xfrm>
          <a:custGeom>
            <a:avLst/>
            <a:gdLst/>
            <a:ahLst/>
            <a:cxnLst/>
            <a:rect r="r" b="b" t="t" l="l"/>
            <a:pathLst>
              <a:path h="4675896" w="11301259">
                <a:moveTo>
                  <a:pt x="0" y="0"/>
                </a:moveTo>
                <a:lnTo>
                  <a:pt x="11301259" y="0"/>
                </a:lnTo>
                <a:lnTo>
                  <a:pt x="11301259" y="4675896"/>
                </a:lnTo>
                <a:lnTo>
                  <a:pt x="0" y="4675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3909" y="200025"/>
            <a:ext cx="12095157" cy="118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5"/>
              </a:lnSpc>
            </a:pPr>
            <a:r>
              <a:rPr lang="en-US" sz="8335" spc="-29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Cluster Evaluation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82719" y="1627909"/>
            <a:ext cx="9676149" cy="138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  <a:spcBef>
                <a:spcPct val="0"/>
              </a:spcBef>
            </a:pPr>
            <a:r>
              <a:rPr lang="en-US" sz="2629" spc="-105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Expectedly low due t</a:t>
            </a:r>
            <a:r>
              <a:rPr lang="en-US" sz="2629" spc="-105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o </a:t>
            </a:r>
            <a:r>
              <a:rPr lang="en-US" b="true" sz="2629" spc="-105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mixed-type high-dimensional data</a:t>
            </a:r>
            <a:r>
              <a:rPr lang="en-US" sz="2629" spc="-105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,but still indicates weak but valid separation among clusters.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44500" y="4920623"/>
            <a:ext cx="6129895" cy="348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711" indent="-233855" lvl="1">
              <a:lnSpc>
                <a:spcPts val="3032"/>
              </a:lnSpc>
              <a:buFont typeface="Arial"/>
              <a:buChar char="•"/>
            </a:pPr>
            <a:r>
              <a:rPr lang="en-US" b="true" sz="2166" spc="-86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Cluster 1: lowest variance </a:t>
            </a:r>
          </a:p>
          <a:p>
            <a:pPr algn="ctr">
              <a:lnSpc>
                <a:spcPts val="3032"/>
              </a:lnSpc>
              <a:spcBef>
                <a:spcPct val="0"/>
              </a:spcBef>
            </a:pPr>
            <a:r>
              <a:rPr lang="en-US" sz="2166" i="true" spc="-86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young, low-risk,behaviorally     h</a:t>
            </a:r>
            <a:r>
              <a:rPr lang="en-US" sz="2166" i="true" spc="-86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omogeneous group</a:t>
            </a:r>
          </a:p>
          <a:p>
            <a:pPr algn="l" marL="467712" indent="-23385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66" spc="-86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Cluster 3: highest variance </a:t>
            </a:r>
          </a:p>
          <a:p>
            <a:pPr algn="ctr">
              <a:lnSpc>
                <a:spcPts val="3032"/>
              </a:lnSpc>
              <a:spcBef>
                <a:spcPct val="0"/>
              </a:spcBef>
            </a:pPr>
            <a:r>
              <a:rPr lang="en-US" sz="2166" i="true" spc="-86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older population,broad range of hypertension severity</a:t>
            </a:r>
          </a:p>
          <a:p>
            <a:pPr algn="l" marL="467712" indent="-23385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66" spc="-86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Clusters 0 and 2: moderate variance</a:t>
            </a:r>
          </a:p>
          <a:p>
            <a:pPr algn="ctr">
              <a:lnSpc>
                <a:spcPts val="3032"/>
              </a:lnSpc>
              <a:spcBef>
                <a:spcPct val="0"/>
              </a:spcBef>
            </a:pPr>
            <a:r>
              <a:rPr lang="en-US" sz="2166" i="true" spc="-86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mixed SES and mixed insurance groups</a:t>
            </a:r>
          </a:p>
          <a:p>
            <a:pPr algn="l">
              <a:lnSpc>
                <a:spcPts val="3592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081732" y="2516845"/>
            <a:ext cx="658530" cy="295740"/>
          </a:xfrm>
          <a:custGeom>
            <a:avLst/>
            <a:gdLst/>
            <a:ahLst/>
            <a:cxnLst/>
            <a:rect r="r" b="b" t="t" l="l"/>
            <a:pathLst>
              <a:path h="295740" w="658530">
                <a:moveTo>
                  <a:pt x="0" y="0"/>
                </a:moveTo>
                <a:lnTo>
                  <a:pt x="658530" y="0"/>
                </a:lnTo>
                <a:lnTo>
                  <a:pt x="658530" y="295739"/>
                </a:lnTo>
                <a:lnTo>
                  <a:pt x="0" y="2957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3951" y="1959108"/>
            <a:ext cx="10570596" cy="6368784"/>
          </a:xfrm>
          <a:custGeom>
            <a:avLst/>
            <a:gdLst/>
            <a:ahLst/>
            <a:cxnLst/>
            <a:rect r="r" b="b" t="t" l="l"/>
            <a:pathLst>
              <a:path h="6368784" w="10570596">
                <a:moveTo>
                  <a:pt x="0" y="0"/>
                </a:moveTo>
                <a:lnTo>
                  <a:pt x="10570597" y="0"/>
                </a:lnTo>
                <a:lnTo>
                  <a:pt x="10570597" y="6368784"/>
                </a:lnTo>
                <a:lnTo>
                  <a:pt x="0" y="6368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3909" y="200025"/>
            <a:ext cx="12095157" cy="118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5"/>
              </a:lnSpc>
            </a:pPr>
            <a:r>
              <a:rPr lang="en-US" sz="8335" spc="-29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Cluster Evaluation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37224" y="2856871"/>
            <a:ext cx="5394326" cy="39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3"/>
              </a:lnSpc>
              <a:spcBef>
                <a:spcPct val="0"/>
              </a:spcBef>
            </a:pPr>
            <a:r>
              <a:rPr lang="en-US" sz="3723" spc="-148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Centroids clearly differentiate</a:t>
            </a:r>
            <a:r>
              <a:rPr lang="en-US" sz="3723" spc="-148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b="true" sz="3723" spc="-148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SES</a:t>
            </a:r>
            <a:r>
              <a:rPr lang="en-US" sz="3723" spc="-148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, </a:t>
            </a:r>
            <a:r>
              <a:rPr lang="en-US" b="true" sz="3723" spc="-148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lifestyle</a:t>
            </a:r>
            <a:r>
              <a:rPr lang="en-US" sz="3723" spc="-148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, and</a:t>
            </a:r>
            <a:r>
              <a:rPr lang="en-US" sz="3723" spc="-148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b="true" sz="3723" spc="-148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hypertension gradients</a:t>
            </a:r>
            <a:r>
              <a:rPr lang="en-US" sz="3723" spc="-148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across the four clusters.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953724"/>
            <a:ext cx="18288000" cy="4937760"/>
          </a:xfrm>
          <a:custGeom>
            <a:avLst/>
            <a:gdLst/>
            <a:ahLst/>
            <a:cxnLst/>
            <a:rect r="r" b="b" t="t" l="l"/>
            <a:pathLst>
              <a:path h="4937760" w="18288000">
                <a:moveTo>
                  <a:pt x="0" y="0"/>
                </a:moveTo>
                <a:lnTo>
                  <a:pt x="18288000" y="0"/>
                </a:lnTo>
                <a:lnTo>
                  <a:pt x="18288000" y="4937760"/>
                </a:lnTo>
                <a:lnTo>
                  <a:pt x="0" y="4937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5843" y="200025"/>
            <a:ext cx="12095157" cy="1197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4"/>
              </a:lnSpc>
            </a:pPr>
            <a:r>
              <a:rPr lang="en-US" sz="8430" spc="-295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Cluster Profiles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71861" y="462196"/>
            <a:ext cx="9187439" cy="56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5"/>
              </a:lnSpc>
              <a:spcBef>
                <a:spcPct val="0"/>
              </a:spcBef>
            </a:pPr>
            <a:r>
              <a:rPr lang="en-US" sz="3196" i="true" spc="-127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</a:t>
            </a:r>
            <a:r>
              <a:rPr lang="en-US" sz="3196" i="true" spc="-127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ocioeconomic &amp; Demographic Structure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081277"/>
            <a:ext cx="18288000" cy="4823460"/>
          </a:xfrm>
          <a:custGeom>
            <a:avLst/>
            <a:gdLst/>
            <a:ahLst/>
            <a:cxnLst/>
            <a:rect r="r" b="b" t="t" l="l"/>
            <a:pathLst>
              <a:path h="4823460" w="18288000">
                <a:moveTo>
                  <a:pt x="0" y="0"/>
                </a:moveTo>
                <a:lnTo>
                  <a:pt x="18288000" y="0"/>
                </a:lnTo>
                <a:lnTo>
                  <a:pt x="18288000" y="4823460"/>
                </a:lnTo>
                <a:lnTo>
                  <a:pt x="0" y="4823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5843" y="200025"/>
            <a:ext cx="12095157" cy="1197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4"/>
              </a:lnSpc>
            </a:pPr>
            <a:r>
              <a:rPr lang="en-US" sz="8430" spc="-295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Cluster Profiles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71861" y="462196"/>
            <a:ext cx="9187439" cy="56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5"/>
              </a:lnSpc>
              <a:spcBef>
                <a:spcPct val="0"/>
              </a:spcBef>
            </a:pPr>
            <a:r>
              <a:rPr lang="en-US" sz="3196" i="true" spc="-127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Phys</a:t>
            </a:r>
            <a:r>
              <a:rPr lang="en-US" sz="3196" i="true" spc="-127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iological Health Risk Profile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260" y="1201503"/>
            <a:ext cx="12442418" cy="9114072"/>
          </a:xfrm>
          <a:custGeom>
            <a:avLst/>
            <a:gdLst/>
            <a:ahLst/>
            <a:cxnLst/>
            <a:rect r="r" b="b" t="t" l="l"/>
            <a:pathLst>
              <a:path h="9114072" w="12442418">
                <a:moveTo>
                  <a:pt x="0" y="0"/>
                </a:moveTo>
                <a:lnTo>
                  <a:pt x="12442418" y="0"/>
                </a:lnTo>
                <a:lnTo>
                  <a:pt x="12442418" y="9114072"/>
                </a:lnTo>
                <a:lnTo>
                  <a:pt x="0" y="9114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5843" y="200025"/>
            <a:ext cx="12095157" cy="1197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4"/>
              </a:lnSpc>
            </a:pPr>
            <a:r>
              <a:rPr lang="en-US" sz="8430" spc="-295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Cluster Profiles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71861" y="462196"/>
            <a:ext cx="9187439" cy="56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5"/>
              </a:lnSpc>
              <a:spcBef>
                <a:spcPct val="0"/>
              </a:spcBef>
            </a:pPr>
            <a:r>
              <a:rPr lang="en-US" sz="3196" i="true" spc="-127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</a:t>
            </a:r>
            <a:r>
              <a:rPr lang="en-US" sz="3196" i="true" spc="-127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ehavioral &amp; Social Patterns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219426"/>
            <a:ext cx="9191013" cy="4469130"/>
          </a:xfrm>
          <a:custGeom>
            <a:avLst/>
            <a:gdLst/>
            <a:ahLst/>
            <a:cxnLst/>
            <a:rect r="r" b="b" t="t" l="l"/>
            <a:pathLst>
              <a:path h="4469130" w="9191013">
                <a:moveTo>
                  <a:pt x="0" y="0"/>
                </a:moveTo>
                <a:lnTo>
                  <a:pt x="9191013" y="0"/>
                </a:lnTo>
                <a:lnTo>
                  <a:pt x="9191013" y="4469130"/>
                </a:lnTo>
                <a:lnTo>
                  <a:pt x="0" y="4469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3219426"/>
            <a:ext cx="9144000" cy="4491990"/>
          </a:xfrm>
          <a:custGeom>
            <a:avLst/>
            <a:gdLst/>
            <a:ahLst/>
            <a:cxnLst/>
            <a:rect r="r" b="b" t="t" l="l"/>
            <a:pathLst>
              <a:path h="4491990" w="9144000">
                <a:moveTo>
                  <a:pt x="0" y="0"/>
                </a:moveTo>
                <a:lnTo>
                  <a:pt x="9144000" y="0"/>
                </a:lnTo>
                <a:lnTo>
                  <a:pt x="9144000" y="4491990"/>
                </a:lnTo>
                <a:lnTo>
                  <a:pt x="0" y="4491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5843" y="200025"/>
            <a:ext cx="12095157" cy="1197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4"/>
              </a:lnSpc>
            </a:pPr>
            <a:r>
              <a:rPr lang="en-US" sz="8430" spc="-295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Cluster Profiles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71861" y="462196"/>
            <a:ext cx="10017572" cy="56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5"/>
              </a:lnSpc>
              <a:spcBef>
                <a:spcPct val="0"/>
              </a:spcBef>
            </a:pPr>
            <a:r>
              <a:rPr lang="en-US" sz="3196" i="true" spc="-127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Insuran</a:t>
            </a:r>
            <a:r>
              <a:rPr lang="en-US" sz="3196" i="true" spc="-127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ce Type &amp; Hypertension Stage Distribution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649" y="161925"/>
            <a:ext cx="12095157" cy="95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730" spc="-235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Cluster Interpretation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349495"/>
            <a:ext cx="9144000" cy="56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168" indent="-345084" lvl="1">
              <a:lnSpc>
                <a:spcPts val="4475"/>
              </a:lnSpc>
              <a:buFont typeface="Arial"/>
              <a:buChar char="•"/>
            </a:pPr>
            <a:r>
              <a:rPr lang="en-US" b="true" sz="3196" spc="-12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0 </a:t>
            </a:r>
            <a:r>
              <a:rPr lang="en-US" b="true" sz="3196" spc="-12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Low-Income Lifestyle-Risk Group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1789" y="2057482"/>
            <a:ext cx="5773043" cy="272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763" i="true" spc="-70" strike="noStrike" u="none">
                <a:solidFill>
                  <a:srgbClr val="FFFFFF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Income-to-poverty ratio lowest → clear low-SES pattern</a:t>
            </a:r>
          </a:p>
          <a:p>
            <a:pPr algn="l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763" i="true" spc="-70" strike="noStrike" u="none">
                <a:solidFill>
                  <a:srgbClr val="FFFFFF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Age is oldest on average (≈ 65–80 yrs)</a:t>
            </a:r>
          </a:p>
          <a:p>
            <a:pPr algn="l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763" i="true" spc="-70" strike="noStrike" u="none">
                <a:solidFill>
                  <a:srgbClr val="FFFFFF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Smoking prevalence highest (≈ 60%)</a:t>
            </a:r>
          </a:p>
          <a:p>
            <a:pPr algn="l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763" i="true" spc="-70" strike="noStrike" u="none">
                <a:solidFill>
                  <a:srgbClr val="FFFFFF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Employment rate lowest (≈ 17%)</a:t>
            </a:r>
          </a:p>
          <a:p>
            <a:pPr algn="l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763" i="true" spc="-70" strike="noStrike" u="none">
                <a:solidFill>
                  <a:srgbClr val="FFFFFF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HTN distribution:</a:t>
            </a:r>
          </a:p>
          <a:p>
            <a:pPr algn="l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763" i="true" spc="-70" strike="noStrike" u="none">
                <a:solidFill>
                  <a:srgbClr val="FFFFFF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  - Normal: 72%</a:t>
            </a:r>
          </a:p>
          <a:p>
            <a:pPr algn="l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763" i="true" spc="-70" strike="noStrike" u="none">
                <a:solidFill>
                  <a:srgbClr val="FFFFFF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 - Stage 1: 18%</a:t>
            </a:r>
          </a:p>
          <a:p>
            <a:pPr algn="l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763" i="true" spc="-70" strike="noStrike" u="none">
                <a:solidFill>
                  <a:srgbClr val="FFFFFF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 - Stage 2: 10%</a:t>
            </a:r>
          </a:p>
          <a:p>
            <a:pPr algn="l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763" i="true" spc="-70" strike="noStrike" u="none">
                <a:solidFill>
                  <a:srgbClr val="FFFFFF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- Insurance mainly public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1349495"/>
            <a:ext cx="9144000" cy="56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168" indent="-345084" lvl="1">
              <a:lnSpc>
                <a:spcPts val="4475"/>
              </a:lnSpc>
              <a:buFont typeface="Arial"/>
              <a:buChar char="•"/>
            </a:pPr>
            <a:r>
              <a:rPr lang="en-US" b="true" sz="3196" spc="-12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1 —</a:t>
            </a:r>
            <a:r>
              <a:rPr lang="en-US" b="true" sz="3196" spc="-12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Young, Healthy, but Uninsured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5526499"/>
            <a:ext cx="8775052" cy="112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168" indent="-345084" lvl="1">
              <a:lnSpc>
                <a:spcPts val="4475"/>
              </a:lnSpc>
              <a:buFont typeface="Arial"/>
              <a:buChar char="•"/>
            </a:pPr>
            <a:r>
              <a:rPr lang="en-US" b="true" sz="3196" spc="-12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2 —</a:t>
            </a:r>
            <a:r>
              <a:rPr lang="en-US" b="true" sz="3196" spc="-12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Well-Resourced, Protected, Low-Risk 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5526499"/>
            <a:ext cx="9144000" cy="112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168" indent="-345084" lvl="1">
              <a:lnSpc>
                <a:spcPts val="4475"/>
              </a:lnSpc>
              <a:buFont typeface="Arial"/>
              <a:buChar char="•"/>
            </a:pPr>
            <a:r>
              <a:rPr lang="en-US" b="true" sz="3196" spc="-12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3 —</a:t>
            </a:r>
            <a:r>
              <a:rPr lang="en-US" b="true" sz="3196" spc="-12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Older, High-Risk Hypertension Group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50492" y="2057482"/>
            <a:ext cx="5545881" cy="1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Youngest group (≈ 25–40 yrs)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Highest proportion of Normal BP (≈ 89%)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Lowest Stage 2 HTN (≈ 1%)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Employment high (≈ 65%)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Uninsured rate noticeably higher than other groups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S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ES mod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ra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ly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l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ow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b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 sta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bl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2657" y="6789987"/>
            <a:ext cx="4944679" cy="309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Highest inc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ome-to-poverty ratio → highest SES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Education level highest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-Age (≈ 40-65 yrs)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Employment highest (≈ 70%)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Private insurance dominates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HTN distribution: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 - Normal: 75%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 - Stage 1: 20%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- Stage 2: 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5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%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Low BM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 → life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tyle 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ve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ly 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hea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thy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50492" y="6789987"/>
            <a:ext cx="5454256" cy="1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Age second-highest (≈ 50–70 yrs)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Stage 2 hypertension extremely high (≈ 67%)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BMI highest of all clusters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Smoking hi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g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h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(≈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43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%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)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Insurance 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type 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mi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xed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(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public</a:t>
            </a: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+ private + uninsured)</a:t>
            </a:r>
          </a:p>
          <a:p>
            <a:pPr algn="l">
              <a:lnSpc>
                <a:spcPts val="2469"/>
              </a:lnSpc>
              <a:spcBef>
                <a:spcPct val="0"/>
              </a:spcBef>
            </a:pPr>
            <a:r>
              <a:rPr lang="en-US" sz="1763" i="true" spc="-7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 Employment moderate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702973"/>
            <a:ext cx="5209374" cy="5555327"/>
            <a:chOff x="0" y="0"/>
            <a:chExt cx="1372016" cy="1463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2016" cy="1463131"/>
            </a:xfrm>
            <a:custGeom>
              <a:avLst/>
              <a:gdLst/>
              <a:ahLst/>
              <a:cxnLst/>
              <a:rect r="r" b="b" t="t" l="l"/>
              <a:pathLst>
                <a:path h="1463131" w="1372016">
                  <a:moveTo>
                    <a:pt x="56474" y="0"/>
                  </a:moveTo>
                  <a:lnTo>
                    <a:pt x="1315542" y="0"/>
                  </a:lnTo>
                  <a:cubicBezTo>
                    <a:pt x="1330520" y="0"/>
                    <a:pt x="1344884" y="5950"/>
                    <a:pt x="1355475" y="16541"/>
                  </a:cubicBezTo>
                  <a:cubicBezTo>
                    <a:pt x="1366066" y="27132"/>
                    <a:pt x="1372016" y="41496"/>
                    <a:pt x="1372016" y="56474"/>
                  </a:cubicBezTo>
                  <a:lnTo>
                    <a:pt x="1372016" y="1406658"/>
                  </a:lnTo>
                  <a:cubicBezTo>
                    <a:pt x="1372016" y="1421635"/>
                    <a:pt x="1366066" y="1436000"/>
                    <a:pt x="1355475" y="1446591"/>
                  </a:cubicBezTo>
                  <a:cubicBezTo>
                    <a:pt x="1344884" y="1457181"/>
                    <a:pt x="1330520" y="1463131"/>
                    <a:pt x="1315542" y="1463131"/>
                  </a:cubicBezTo>
                  <a:lnTo>
                    <a:pt x="56474" y="1463131"/>
                  </a:lnTo>
                  <a:cubicBezTo>
                    <a:pt x="41496" y="1463131"/>
                    <a:pt x="27132" y="1457181"/>
                    <a:pt x="16541" y="1446591"/>
                  </a:cubicBezTo>
                  <a:cubicBezTo>
                    <a:pt x="5950" y="1436000"/>
                    <a:pt x="0" y="1421635"/>
                    <a:pt x="0" y="1406658"/>
                  </a:cubicBezTo>
                  <a:lnTo>
                    <a:pt x="0" y="56474"/>
                  </a:lnTo>
                  <a:cubicBezTo>
                    <a:pt x="0" y="41496"/>
                    <a:pt x="5950" y="27132"/>
                    <a:pt x="16541" y="16541"/>
                  </a:cubicBezTo>
                  <a:cubicBezTo>
                    <a:pt x="27132" y="5950"/>
                    <a:pt x="41496" y="0"/>
                    <a:pt x="56474" y="0"/>
                  </a:cubicBezTo>
                  <a:close/>
                </a:path>
              </a:pathLst>
            </a:custGeom>
            <a:solidFill>
              <a:srgbClr val="1540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72016" cy="1491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39313" y="3702973"/>
            <a:ext cx="5209374" cy="5555327"/>
            <a:chOff x="0" y="0"/>
            <a:chExt cx="1372016" cy="14631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2016" cy="1463131"/>
            </a:xfrm>
            <a:custGeom>
              <a:avLst/>
              <a:gdLst/>
              <a:ahLst/>
              <a:cxnLst/>
              <a:rect r="r" b="b" t="t" l="l"/>
              <a:pathLst>
                <a:path h="1463131" w="1372016">
                  <a:moveTo>
                    <a:pt x="56474" y="0"/>
                  </a:moveTo>
                  <a:lnTo>
                    <a:pt x="1315542" y="0"/>
                  </a:lnTo>
                  <a:cubicBezTo>
                    <a:pt x="1330520" y="0"/>
                    <a:pt x="1344884" y="5950"/>
                    <a:pt x="1355475" y="16541"/>
                  </a:cubicBezTo>
                  <a:cubicBezTo>
                    <a:pt x="1366066" y="27132"/>
                    <a:pt x="1372016" y="41496"/>
                    <a:pt x="1372016" y="56474"/>
                  </a:cubicBezTo>
                  <a:lnTo>
                    <a:pt x="1372016" y="1406658"/>
                  </a:lnTo>
                  <a:cubicBezTo>
                    <a:pt x="1372016" y="1421635"/>
                    <a:pt x="1366066" y="1436000"/>
                    <a:pt x="1355475" y="1446591"/>
                  </a:cubicBezTo>
                  <a:cubicBezTo>
                    <a:pt x="1344884" y="1457181"/>
                    <a:pt x="1330520" y="1463131"/>
                    <a:pt x="1315542" y="1463131"/>
                  </a:cubicBezTo>
                  <a:lnTo>
                    <a:pt x="56474" y="1463131"/>
                  </a:lnTo>
                  <a:cubicBezTo>
                    <a:pt x="41496" y="1463131"/>
                    <a:pt x="27132" y="1457181"/>
                    <a:pt x="16541" y="1446591"/>
                  </a:cubicBezTo>
                  <a:cubicBezTo>
                    <a:pt x="5950" y="1436000"/>
                    <a:pt x="0" y="1421635"/>
                    <a:pt x="0" y="1406658"/>
                  </a:cubicBezTo>
                  <a:lnTo>
                    <a:pt x="0" y="56474"/>
                  </a:lnTo>
                  <a:cubicBezTo>
                    <a:pt x="0" y="41496"/>
                    <a:pt x="5950" y="27132"/>
                    <a:pt x="16541" y="16541"/>
                  </a:cubicBezTo>
                  <a:cubicBezTo>
                    <a:pt x="27132" y="5950"/>
                    <a:pt x="41496" y="0"/>
                    <a:pt x="56474" y="0"/>
                  </a:cubicBezTo>
                  <a:close/>
                </a:path>
              </a:pathLst>
            </a:custGeom>
            <a:solidFill>
              <a:srgbClr val="154069">
                <a:alpha val="9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72016" cy="1491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49926" y="3702973"/>
            <a:ext cx="5209374" cy="5555327"/>
            <a:chOff x="0" y="0"/>
            <a:chExt cx="1372016" cy="14631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2016" cy="1463131"/>
            </a:xfrm>
            <a:custGeom>
              <a:avLst/>
              <a:gdLst/>
              <a:ahLst/>
              <a:cxnLst/>
              <a:rect r="r" b="b" t="t" l="l"/>
              <a:pathLst>
                <a:path h="1463131" w="1372016">
                  <a:moveTo>
                    <a:pt x="56474" y="0"/>
                  </a:moveTo>
                  <a:lnTo>
                    <a:pt x="1315542" y="0"/>
                  </a:lnTo>
                  <a:cubicBezTo>
                    <a:pt x="1330520" y="0"/>
                    <a:pt x="1344884" y="5950"/>
                    <a:pt x="1355475" y="16541"/>
                  </a:cubicBezTo>
                  <a:cubicBezTo>
                    <a:pt x="1366066" y="27132"/>
                    <a:pt x="1372016" y="41496"/>
                    <a:pt x="1372016" y="56474"/>
                  </a:cubicBezTo>
                  <a:lnTo>
                    <a:pt x="1372016" y="1406658"/>
                  </a:lnTo>
                  <a:cubicBezTo>
                    <a:pt x="1372016" y="1421635"/>
                    <a:pt x="1366066" y="1436000"/>
                    <a:pt x="1355475" y="1446591"/>
                  </a:cubicBezTo>
                  <a:cubicBezTo>
                    <a:pt x="1344884" y="1457181"/>
                    <a:pt x="1330520" y="1463131"/>
                    <a:pt x="1315542" y="1463131"/>
                  </a:cubicBezTo>
                  <a:lnTo>
                    <a:pt x="56474" y="1463131"/>
                  </a:lnTo>
                  <a:cubicBezTo>
                    <a:pt x="41496" y="1463131"/>
                    <a:pt x="27132" y="1457181"/>
                    <a:pt x="16541" y="1446591"/>
                  </a:cubicBezTo>
                  <a:cubicBezTo>
                    <a:pt x="5950" y="1436000"/>
                    <a:pt x="0" y="1421635"/>
                    <a:pt x="0" y="1406658"/>
                  </a:cubicBezTo>
                  <a:lnTo>
                    <a:pt x="0" y="56474"/>
                  </a:lnTo>
                  <a:cubicBezTo>
                    <a:pt x="0" y="41496"/>
                    <a:pt x="5950" y="27132"/>
                    <a:pt x="16541" y="16541"/>
                  </a:cubicBezTo>
                  <a:cubicBezTo>
                    <a:pt x="27132" y="5950"/>
                    <a:pt x="41496" y="0"/>
                    <a:pt x="56474" y="0"/>
                  </a:cubicBezTo>
                  <a:close/>
                </a:path>
              </a:pathLst>
            </a:custGeom>
            <a:solidFill>
              <a:srgbClr val="154069">
                <a:alpha val="7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2016" cy="1491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1579" y="729438"/>
            <a:ext cx="16878454" cy="2347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3"/>
              </a:lnSpc>
            </a:pPr>
            <a:r>
              <a:rPr lang="en-US" sz="9088" spc="-31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Conclusion</a:t>
            </a:r>
          </a:p>
          <a:p>
            <a:pPr algn="l">
              <a:lnSpc>
                <a:spcPts val="854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65661" y="4746589"/>
            <a:ext cx="5370961" cy="362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194" indent="-257597" lvl="1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Privat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 insurance </a:t>
            </a:r>
            <a:r>
              <a:rPr lang="en-US" sz="2386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→ </a:t>
            </a:r>
          </a:p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2386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high-income, college-educated</a:t>
            </a:r>
          </a:p>
          <a:p>
            <a:pPr algn="l" marL="515194" indent="-257597" lvl="1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Public insurance</a:t>
            </a:r>
            <a:r>
              <a:rPr lang="en-US" sz="23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</a:p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2386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low-income, especially women</a:t>
            </a:r>
          </a:p>
          <a:p>
            <a:pPr algn="l" marL="515194" indent="-257597" lvl="1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Dual</a:t>
            </a:r>
            <a:r>
              <a:rPr lang="en-US" sz="23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386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older adults on Medicare</a:t>
            </a:r>
          </a:p>
          <a:p>
            <a:pPr algn="l" marL="515194" indent="-257597" lvl="1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Uninsured</a:t>
            </a:r>
            <a:r>
              <a:rPr lang="en-US" sz="23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386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most heterogeneous</a:t>
            </a:r>
            <a:r>
              <a:rPr lang="en-US" sz="23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lang="en-US" sz="2386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hardest to predict</a:t>
            </a:r>
          </a:p>
          <a:p>
            <a:pPr algn="l">
              <a:lnSpc>
                <a:spcPts val="2335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27248" y="2738060"/>
            <a:ext cx="5209374" cy="73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5"/>
              </a:lnSpc>
              <a:spcBef>
                <a:spcPct val="0"/>
              </a:spcBef>
            </a:pPr>
            <a:r>
              <a:rPr lang="en-US" b="true" sz="4096" spc="-1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Insurance Findings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36622" y="2738060"/>
            <a:ext cx="5652111" cy="684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5"/>
              </a:lnSpc>
              <a:spcBef>
                <a:spcPct val="0"/>
              </a:spcBef>
            </a:pPr>
            <a:r>
              <a:rPr lang="en-US" b="true" sz="3796" spc="-15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Hypertension Findings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77726" y="4746589"/>
            <a:ext cx="5370961" cy="36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194" indent="-257597" lvl="1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Stag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 1 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</a:p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2386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mainly predicted by BMI</a:t>
            </a:r>
          </a:p>
          <a:p>
            <a:pPr algn="l" marL="515194" indent="-257597" lvl="1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Stage 2 →</a:t>
            </a:r>
          </a:p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2386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strongest predictor = age</a:t>
            </a:r>
          </a:p>
          <a:p>
            <a:pPr algn="l" marL="515194" indent="-257597" lvl="1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ung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adults 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 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most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ly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normal BP 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w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o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ei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gh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</a:p>
          <a:p>
            <a:pPr algn="l">
              <a:lnSpc>
                <a:spcPts val="3340"/>
              </a:lnSpc>
              <a:spcBef>
                <a:spcPct val="0"/>
              </a:spcBef>
            </a:pPr>
          </a:p>
          <a:p>
            <a:pPr algn="l">
              <a:lnSpc>
                <a:spcPts val="2335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049926" y="2738060"/>
            <a:ext cx="5209374" cy="73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5"/>
              </a:lnSpc>
              <a:spcBef>
                <a:spcPct val="0"/>
              </a:spcBef>
            </a:pPr>
            <a:r>
              <a:rPr lang="en-US" b="true" sz="4096" spc="-1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Cluster Findings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69133" y="4252092"/>
            <a:ext cx="5370961" cy="46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194" indent="-257597" lvl="1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Clust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 0: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Low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-income, olde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r,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smokers </a:t>
            </a:r>
          </a:p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2386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→ moderate HTN</a:t>
            </a:r>
          </a:p>
          <a:p>
            <a:pPr algn="l" marL="515194" indent="-257597" lvl="1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ust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 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1: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&amp; h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ea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lthy but uninsured</a:t>
            </a:r>
          </a:p>
          <a:p>
            <a:pPr algn="l" marL="515194" indent="-257597" lvl="1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Cluster 2: High-SES,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he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hy lif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styl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→ mil</a:t>
            </a:r>
            <a:r>
              <a:rPr lang="en-US" sz="23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3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HTN</a:t>
            </a:r>
          </a:p>
          <a:p>
            <a:pPr algn="l" marL="515194" indent="-257597" lvl="1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Clu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3: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gh BMI + uns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3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able insurance</a:t>
            </a:r>
          </a:p>
          <a:p>
            <a:pPr algn="ctr">
              <a:lnSpc>
                <a:spcPts val="3346"/>
              </a:lnSpc>
              <a:spcBef>
                <a:spcPct val="0"/>
              </a:spcBef>
            </a:pPr>
            <a:r>
              <a:rPr lang="en-US" sz="239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→ Severe HTN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60806" y="1097536"/>
            <a:ext cx="5070683" cy="69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sz="5363" i="true" spc="-187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Key Findings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21476"/>
            <a:ext cx="15712066" cy="7123356"/>
            <a:chOff x="0" y="0"/>
            <a:chExt cx="4138157" cy="1876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8157" cy="1876110"/>
            </a:xfrm>
            <a:custGeom>
              <a:avLst/>
              <a:gdLst/>
              <a:ahLst/>
              <a:cxnLst/>
              <a:rect r="r" b="b" t="t" l="l"/>
              <a:pathLst>
                <a:path h="1876110" w="4138157">
                  <a:moveTo>
                    <a:pt x="18724" y="0"/>
                  </a:moveTo>
                  <a:lnTo>
                    <a:pt x="4119433" y="0"/>
                  </a:lnTo>
                  <a:cubicBezTo>
                    <a:pt x="4129774" y="0"/>
                    <a:pt x="4138157" y="8383"/>
                    <a:pt x="4138157" y="18724"/>
                  </a:cubicBezTo>
                  <a:lnTo>
                    <a:pt x="4138157" y="1857386"/>
                  </a:lnTo>
                  <a:cubicBezTo>
                    <a:pt x="4138157" y="1867727"/>
                    <a:pt x="4129774" y="1876110"/>
                    <a:pt x="4119433" y="1876110"/>
                  </a:cubicBezTo>
                  <a:lnTo>
                    <a:pt x="18724" y="1876110"/>
                  </a:lnTo>
                  <a:cubicBezTo>
                    <a:pt x="8383" y="1876110"/>
                    <a:pt x="0" y="1867727"/>
                    <a:pt x="0" y="1857386"/>
                  </a:cubicBezTo>
                  <a:lnTo>
                    <a:pt x="0" y="18724"/>
                  </a:lnTo>
                  <a:cubicBezTo>
                    <a:pt x="0" y="8383"/>
                    <a:pt x="8383" y="0"/>
                    <a:pt x="18724" y="0"/>
                  </a:cubicBezTo>
                  <a:close/>
                </a:path>
              </a:pathLst>
            </a:custGeom>
            <a:solidFill>
              <a:srgbClr val="1540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138157" cy="190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1579" y="729438"/>
            <a:ext cx="16878454" cy="2347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3"/>
              </a:lnSpc>
            </a:pPr>
            <a:r>
              <a:rPr lang="en-US" sz="9088" spc="-31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Conclusion</a:t>
            </a:r>
          </a:p>
          <a:p>
            <a:pPr algn="l">
              <a:lnSpc>
                <a:spcPts val="854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53707" y="2807091"/>
            <a:ext cx="14662052" cy="606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2"/>
              </a:lnSpc>
            </a:pPr>
            <a:r>
              <a:rPr lang="en-US" sz="273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1. Low-SES groups accumulate long-term risk</a:t>
            </a:r>
          </a:p>
          <a:p>
            <a:pPr algn="ctr">
              <a:lnSpc>
                <a:spcPts val="3692"/>
              </a:lnSpc>
            </a:pPr>
            <a:r>
              <a:rPr lang="en-US" sz="2637" i="true">
                <a:solidFill>
                  <a:srgbClr val="FFFFFF"/>
                </a:solidFill>
                <a:latin typeface="Tex Gyre Bonum Italics"/>
                <a:ea typeface="Tex Gyre Bonum Italics"/>
                <a:cs typeface="Tex Gyre Bonum Italics"/>
                <a:sym typeface="Tex Gyre Bonum Italics"/>
              </a:rPr>
              <a:t>Higher smoking, BMI, older age → higher HTN stages</a:t>
            </a:r>
          </a:p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 i="true">
                <a:solidFill>
                  <a:srgbClr val="FFFFFF"/>
                </a:solidFill>
                <a:latin typeface="Tex Gyre Bonum Bold Italics"/>
                <a:ea typeface="Tex Gyre Bonum Bold Italics"/>
                <a:cs typeface="Tex Gyre Bonum Bold Italics"/>
                <a:sym typeface="Tex Gyre Bonum Bold Italics"/>
              </a:rPr>
              <a:t>Implication:</a:t>
            </a:r>
            <a:r>
              <a:rPr lang="en-US" sz="2637" i="true">
                <a:solidFill>
                  <a:srgbClr val="FFFFFF"/>
                </a:solidFill>
                <a:latin typeface="Tex Gyre Bonum Italics"/>
                <a:ea typeface="Tex Gyre Bonum Italics"/>
                <a:cs typeface="Tex Gyre Bonum Italics"/>
                <a:sym typeface="Tex Gyre Bonum Italics"/>
              </a:rPr>
              <a:t> preventive car</a:t>
            </a:r>
            <a:r>
              <a:rPr lang="en-US" sz="2637" i="true">
                <a:solidFill>
                  <a:srgbClr val="FFFFFF"/>
                </a:solidFill>
                <a:latin typeface="Tex Gyre Bonum Italics"/>
                <a:ea typeface="Tex Gyre Bonum Italics"/>
                <a:cs typeface="Tex Gyre Bonum Italics"/>
                <a:sym typeface="Tex Gyre Bonum Italics"/>
              </a:rPr>
              <a:t>e; lifestyle programs</a:t>
            </a:r>
          </a:p>
          <a:p>
            <a:pPr algn="l">
              <a:lnSpc>
                <a:spcPts val="3832"/>
              </a:lnSpc>
            </a:pP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2. Publ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cly insured 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older adul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ts have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unm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et needs</a:t>
            </a:r>
          </a:p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sz="2637" i="true">
                <a:solidFill>
                  <a:srgbClr val="FFFFFF"/>
                </a:solidFill>
                <a:latin typeface="Tex Gyre Bonum Italics"/>
                <a:ea typeface="Tex Gyre Bonum Italics"/>
                <a:cs typeface="Tex Gyre Bonum Italics"/>
                <a:sym typeface="Tex Gyre Bonum Italics"/>
              </a:rPr>
              <a:t>Older age + elevated BP + poor lifestyle</a:t>
            </a:r>
          </a:p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 i="true">
                <a:solidFill>
                  <a:srgbClr val="FFFFFF"/>
                </a:solidFill>
                <a:latin typeface="Tex Gyre Bonum Bold Italics"/>
                <a:ea typeface="Tex Gyre Bonum Bold Italics"/>
                <a:cs typeface="Tex Gyre Bonum Bold Italics"/>
                <a:sym typeface="Tex Gyre Bonum Bold Italics"/>
              </a:rPr>
              <a:t>Implication: </a:t>
            </a:r>
            <a:r>
              <a:rPr lang="en-US" sz="2637" i="true">
                <a:solidFill>
                  <a:srgbClr val="FFFFFF"/>
                </a:solidFill>
                <a:latin typeface="Tex Gyre Bonum Italics"/>
                <a:ea typeface="Tex Gyre Bonum Italics"/>
                <a:cs typeface="Tex Gyre Bonum Italics"/>
                <a:sym typeface="Tex Gyre Bonum Italics"/>
              </a:rPr>
              <a:t>strengthen follow-up; chronic care within public insurance</a:t>
            </a:r>
          </a:p>
          <a:p>
            <a:pPr algn="l">
              <a:lnSpc>
                <a:spcPts val="3832"/>
              </a:lnSpc>
              <a:spcBef>
                <a:spcPct val="0"/>
              </a:spcBef>
            </a:pP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3. Young u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ninsured 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ult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healthy now, risky l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ter</a:t>
            </a:r>
          </a:p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sz="2637" i="true">
                <a:solidFill>
                  <a:srgbClr val="FFFFFF"/>
                </a:solidFill>
                <a:latin typeface="Tex Gyre Bonum Italics"/>
                <a:ea typeface="Tex Gyre Bonum Italics"/>
                <a:cs typeface="Tex Gyre Bonum Italics"/>
                <a:sym typeface="Tex Gyre Bonum Italics"/>
              </a:rPr>
              <a:t>Highest uninsured rate</a:t>
            </a:r>
          </a:p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 i="true">
                <a:solidFill>
                  <a:srgbClr val="FFFFFF"/>
                </a:solidFill>
                <a:latin typeface="Tex Gyre Bonum Bold Italics"/>
                <a:ea typeface="Tex Gyre Bonum Bold Italics"/>
                <a:cs typeface="Tex Gyre Bonum Bold Italics"/>
                <a:sym typeface="Tex Gyre Bonum Bold Italics"/>
              </a:rPr>
              <a:t>Implication: </a:t>
            </a:r>
            <a:r>
              <a:rPr lang="en-US" sz="2637" i="true">
                <a:solidFill>
                  <a:srgbClr val="FFFFFF"/>
                </a:solidFill>
                <a:latin typeface="Tex Gyre Bonum Italics"/>
                <a:ea typeface="Tex Gyre Bonum Italics"/>
                <a:cs typeface="Tex Gyre Bonum Italics"/>
                <a:sym typeface="Tex Gyre Bonum Italics"/>
              </a:rPr>
              <a:t>affordable insurance options, preventive outreach</a:t>
            </a:r>
          </a:p>
          <a:p>
            <a:pPr algn="l">
              <a:lnSpc>
                <a:spcPts val="3832"/>
              </a:lnSpc>
              <a:spcBef>
                <a:spcPct val="0"/>
              </a:spcBef>
            </a:pP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4. Severe HTN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+ high BMI + unstable i</a:t>
            </a:r>
            <a:r>
              <a:rPr lang="en-US" b="true" sz="27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nsurance</a:t>
            </a:r>
          </a:p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sz="2637" i="true">
                <a:solidFill>
                  <a:srgbClr val="FFFFFF"/>
                </a:solidFill>
                <a:latin typeface="Tex Gyre Bonum Italics"/>
                <a:ea typeface="Tex Gyre Bonum Italics"/>
                <a:cs typeface="Tex Gyre Bonum Italics"/>
                <a:sym typeface="Tex Gyre Bonum Italics"/>
              </a:rPr>
              <a:t>Fragmented care</a:t>
            </a:r>
          </a:p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 i="true">
                <a:solidFill>
                  <a:srgbClr val="FFFFFF"/>
                </a:solidFill>
                <a:latin typeface="Tex Gyre Bonum Bold Italics"/>
                <a:ea typeface="Tex Gyre Bonum Bold Italics"/>
                <a:cs typeface="Tex Gyre Bonum Bold Italics"/>
                <a:sym typeface="Tex Gyre Bonum Bold Italics"/>
              </a:rPr>
              <a:t>Implication: </a:t>
            </a:r>
            <a:r>
              <a:rPr lang="en-US" sz="2637" i="true">
                <a:solidFill>
                  <a:srgbClr val="FFFFFF"/>
                </a:solidFill>
                <a:latin typeface="Tex Gyre Bonum Italics"/>
                <a:ea typeface="Tex Gyre Bonum Italics"/>
                <a:cs typeface="Tex Gyre Bonum Italics"/>
                <a:sym typeface="Tex Gyre Bonum Italics"/>
              </a:rPr>
              <a:t>integrated chronic care; insurance continuity</a:t>
            </a:r>
          </a:p>
          <a:p>
            <a:pPr algn="l">
              <a:lnSpc>
                <a:spcPts val="258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238074" y="1097536"/>
            <a:ext cx="12363528" cy="69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sz="5363" i="true" spc="-187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Public Health Implications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702973"/>
            <a:ext cx="6728184" cy="5555327"/>
            <a:chOff x="0" y="0"/>
            <a:chExt cx="1772032" cy="1463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2032" cy="1463131"/>
            </a:xfrm>
            <a:custGeom>
              <a:avLst/>
              <a:gdLst/>
              <a:ahLst/>
              <a:cxnLst/>
              <a:rect r="r" b="b" t="t" l="l"/>
              <a:pathLst>
                <a:path h="1463131" w="1772032">
                  <a:moveTo>
                    <a:pt x="43725" y="0"/>
                  </a:moveTo>
                  <a:lnTo>
                    <a:pt x="1728307" y="0"/>
                  </a:lnTo>
                  <a:cubicBezTo>
                    <a:pt x="1752455" y="0"/>
                    <a:pt x="1772032" y="19577"/>
                    <a:pt x="1772032" y="43725"/>
                  </a:cubicBezTo>
                  <a:lnTo>
                    <a:pt x="1772032" y="1419406"/>
                  </a:lnTo>
                  <a:cubicBezTo>
                    <a:pt x="1772032" y="1443555"/>
                    <a:pt x="1752455" y="1463131"/>
                    <a:pt x="1728307" y="1463131"/>
                  </a:cubicBezTo>
                  <a:lnTo>
                    <a:pt x="43725" y="1463131"/>
                  </a:lnTo>
                  <a:cubicBezTo>
                    <a:pt x="19577" y="1463131"/>
                    <a:pt x="0" y="1443555"/>
                    <a:pt x="0" y="1419406"/>
                  </a:cubicBezTo>
                  <a:lnTo>
                    <a:pt x="0" y="43725"/>
                  </a:lnTo>
                  <a:cubicBezTo>
                    <a:pt x="0" y="19577"/>
                    <a:pt x="19577" y="0"/>
                    <a:pt x="43725" y="0"/>
                  </a:cubicBezTo>
                  <a:close/>
                </a:path>
              </a:pathLst>
            </a:custGeom>
            <a:solidFill>
              <a:srgbClr val="1540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772032" cy="1491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39160" y="3702973"/>
            <a:ext cx="7220140" cy="5555327"/>
            <a:chOff x="0" y="0"/>
            <a:chExt cx="1901601" cy="14631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601" cy="1463131"/>
            </a:xfrm>
            <a:custGeom>
              <a:avLst/>
              <a:gdLst/>
              <a:ahLst/>
              <a:cxnLst/>
              <a:rect r="r" b="b" t="t" l="l"/>
              <a:pathLst>
                <a:path h="1463131" w="1901601">
                  <a:moveTo>
                    <a:pt x="40746" y="0"/>
                  </a:moveTo>
                  <a:lnTo>
                    <a:pt x="1860855" y="0"/>
                  </a:lnTo>
                  <a:cubicBezTo>
                    <a:pt x="1883358" y="0"/>
                    <a:pt x="1901601" y="18243"/>
                    <a:pt x="1901601" y="40746"/>
                  </a:cubicBezTo>
                  <a:lnTo>
                    <a:pt x="1901601" y="1422385"/>
                  </a:lnTo>
                  <a:cubicBezTo>
                    <a:pt x="1901601" y="1433192"/>
                    <a:pt x="1897308" y="1443556"/>
                    <a:pt x="1889666" y="1451197"/>
                  </a:cubicBezTo>
                  <a:cubicBezTo>
                    <a:pt x="1882025" y="1458838"/>
                    <a:pt x="1871661" y="1463131"/>
                    <a:pt x="1860855" y="1463131"/>
                  </a:cubicBezTo>
                  <a:lnTo>
                    <a:pt x="40746" y="1463131"/>
                  </a:lnTo>
                  <a:cubicBezTo>
                    <a:pt x="18243" y="1463131"/>
                    <a:pt x="0" y="1444889"/>
                    <a:pt x="0" y="1422385"/>
                  </a:cubicBezTo>
                  <a:lnTo>
                    <a:pt x="0" y="40746"/>
                  </a:lnTo>
                  <a:cubicBezTo>
                    <a:pt x="0" y="29940"/>
                    <a:pt x="4293" y="19576"/>
                    <a:pt x="11934" y="11934"/>
                  </a:cubicBezTo>
                  <a:cubicBezTo>
                    <a:pt x="19576" y="4293"/>
                    <a:pt x="29940" y="0"/>
                    <a:pt x="40746" y="0"/>
                  </a:cubicBezTo>
                  <a:close/>
                </a:path>
              </a:pathLst>
            </a:custGeom>
            <a:solidFill>
              <a:srgbClr val="154069">
                <a:alpha val="7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901601" cy="1491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1579" y="729438"/>
            <a:ext cx="16878454" cy="2347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3"/>
              </a:lnSpc>
            </a:pPr>
            <a:r>
              <a:rPr lang="en-US" sz="9088" spc="-31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Conclusion</a:t>
            </a:r>
          </a:p>
          <a:p>
            <a:pPr algn="l">
              <a:lnSpc>
                <a:spcPts val="854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59732" y="4737064"/>
            <a:ext cx="5666119" cy="283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141" indent="-311570" lvl="1">
              <a:lnSpc>
                <a:spcPts val="4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NHANES is cross-sect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</a:p>
          <a:p>
            <a:pPr algn="l" marL="623141" indent="-311570" lvl="1">
              <a:lnSpc>
                <a:spcPts val="4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Self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-repor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lif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yl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 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  <a:p>
            <a:pPr algn="l" marL="623141" indent="-311570" lvl="1">
              <a:lnSpc>
                <a:spcPts val="4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High Laboratory Data Missingness</a:t>
            </a:r>
          </a:p>
          <a:p>
            <a:pPr algn="l">
              <a:lnSpc>
                <a:spcPts val="233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23407" y="2738060"/>
            <a:ext cx="5209374" cy="73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5"/>
              </a:lnSpc>
              <a:spcBef>
                <a:spcPct val="0"/>
              </a:spcBef>
            </a:pPr>
            <a:r>
              <a:rPr lang="en-US" b="true" sz="4096" spc="-1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18792" y="2738060"/>
            <a:ext cx="5707454" cy="73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5"/>
              </a:lnSpc>
              <a:spcBef>
                <a:spcPct val="0"/>
              </a:spcBef>
            </a:pPr>
            <a:r>
              <a:rPr lang="en-US" b="true" sz="4096" spc="-1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38074" y="1097536"/>
            <a:ext cx="12363528" cy="69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sz="5363" i="true" spc="-187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Limitations &amp; Future Directions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34318" y="4737064"/>
            <a:ext cx="6489004" cy="295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141" indent="-311570" lvl="1">
              <a:lnSpc>
                <a:spcPts val="4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Link NHANES with cost dat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(e.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, M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EP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)</a:t>
            </a:r>
          </a:p>
          <a:p>
            <a:pPr algn="l" marL="623141" indent="-311570" lvl="1">
              <a:lnSpc>
                <a:spcPts val="4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diet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repre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ati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 l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arning fo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 r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ic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her</a:t>
            </a:r>
            <a:r>
              <a:rPr lang="en-US" b="true" sz="28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features</a:t>
            </a:r>
          </a:p>
          <a:p>
            <a:pPr algn="l">
              <a:lnSpc>
                <a:spcPts val="4040"/>
              </a:lnSpc>
              <a:spcBef>
                <a:spcPct val="0"/>
              </a:spcBef>
            </a:pPr>
          </a:p>
          <a:p>
            <a:pPr algn="l">
              <a:lnSpc>
                <a:spcPts val="33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60002" y="8551330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88070"/>
            <a:ext cx="8115300" cy="314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22"/>
              </a:lnSpc>
            </a:pPr>
            <a:r>
              <a:rPr lang="en-US" sz="14653" spc="-51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Thank</a:t>
            </a:r>
          </a:p>
          <a:p>
            <a:pPr algn="l">
              <a:lnSpc>
                <a:spcPts val="11722"/>
              </a:lnSpc>
            </a:pPr>
            <a:r>
              <a:rPr lang="en-US" sz="14653" spc="-51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DAG6LyL8dgc</dc:identifier>
  <dcterms:modified xsi:type="dcterms:W3CDTF">2011-08-01T06:04:30Z</dcterms:modified>
  <cp:revision>1</cp:revision>
  <dc:title>Blue Modern Healthcare Medical Presentation</dc:title>
</cp:coreProperties>
</file>